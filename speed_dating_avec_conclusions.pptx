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57" r:id="rId4"/>
    <p:sldId id="260" r:id="rId5"/>
    <p:sldId id="259" r:id="rId6"/>
    <p:sldId id="25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93D47-2100-4520-A674-42720C878824}" type="datetimeFigureOut">
              <a:rPr lang="fr-FR" smtClean="0"/>
              <a:t>04/01/2026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99353-1A70-4213-94A9-C6537E13B48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E2B62F-086F-1790-14D1-CD6F57AE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276F59-9730-4A16-6C15-D1CA610BA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DE52-BA17-66F6-C4DC-CE641F14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D2F3-07B2-4556-8EEA-239F868A8816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6B28B3-7E93-276C-C28C-DE06DA79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484EA1-9A53-37FE-258C-8B447EB6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588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2672E9-46F4-7A63-10A7-DCE54B87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FADE48-3829-E4F5-E66B-C396BDEBA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F1B28F-CD5E-22E1-3476-4DD8EACD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ED75C-5995-486D-AEC2-3458EE0A8C85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7474C-D2D5-3ED8-61E0-BB337F504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114CB1-15BA-5DDD-4718-F4C533AC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3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AA2F0-6A73-ABF0-2229-3400F905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AD919D-F459-3B78-25FA-5333F7941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D87B6D-4F39-1838-2A46-775861DBD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12E0-011E-482D-9770-26F1A780EAD8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59432-326B-BE9F-1FD7-F5B5F37F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AE15A9-F523-17B3-1CA4-9C7A722F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88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36C71-9738-E594-90D4-E9F9F9A2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F8608-9581-240A-945D-CAAB4E56B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B85B04-CB29-CBD3-C780-CD178C3D3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B108F0-99B1-801E-4DD8-4CBF0267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3FC8A-FDB1-4451-9329-43DBB912A256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571773-CB12-002C-D054-BE8F324D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A0C5CC-09E9-E0B6-6650-501A0E80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161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CC0399-4A94-9729-82CE-4309B3D4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EFF367-84AB-F850-94AD-5B1F33DBF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F603297-4F60-28C8-2C3D-30ECC77C7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5673919-2B31-D0CD-B94C-BCDD1239F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2F451B-FB25-DD3C-4453-59D7769C8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C97AA41-2979-4752-474F-486E075C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38DB-53C5-499F-9E77-C4A6BFB6D7B0}" type="datetime1">
              <a:rPr lang="fr-FR" smtClean="0"/>
              <a:t>04/01/2026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444646-08FC-AE86-4F1C-58FF4E28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1399DD-122F-D20B-90E0-E75BF22A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87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F6190-4419-1C36-F7C0-DDD46184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F3E433-46FF-2B77-4103-10D84997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4754B-8D12-4F7B-B7B2-BE9501C2BF0C}" type="datetime1">
              <a:rPr lang="fr-FR" smtClean="0"/>
              <a:t>04/01/2026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0F3C74-FFBF-8B91-526A-D9075B8A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6FB987-5915-F832-77C5-F1067E28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216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C743F8-26B6-3B81-5054-37E4ED6B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601FE-0B10-4357-8A94-ED43ECC61E73}" type="datetime1">
              <a:rPr lang="fr-FR" smtClean="0"/>
              <a:t>04/01/2026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A691426-C0CA-FDCA-9A4F-068CF344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8B6588-2937-CEA0-93D7-01827351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72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1D813-4EB4-80D5-D564-C8D48B45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7FB737-4287-92B2-2648-A76F3F47B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87EFC2-3EC6-F6FF-18FE-2FC431498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FEE924-30CD-B96F-75C6-8CD8C5C5F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5B53D-237A-4F39-87AD-DBFD4AA32F74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0B6806-AAE0-E74A-E2AB-F6E5E35C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BF6025-BEE8-BF44-24C0-75435619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91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2D63B-D4DA-333E-9287-A3785143A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95F387-3E62-1B3A-0104-44C528D1C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FEF34B-FDB8-A79A-BA31-1677DFBF3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523D29-FF30-9C0F-D86F-AA27B986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A35C9-E3D3-49A9-95FC-FD5ECA9EB791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2DC8D0-87DC-EE38-04D7-4B018E5BD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80D052-9C34-13CB-3D41-F582BAC02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392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FB9273-E8AD-31F0-15BC-25E9A79E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754C0C-E2B5-91EC-4487-3809B104D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AAE2FE-E580-E047-BB34-67D2CC0F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20883-C1CF-45DB-8E21-27E9BFE30BA5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E2B1F8-5846-0E0F-11F8-51CF35DCE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FE63DF-D98F-F0EE-9C2E-AD013E8A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97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8F8CEF-71C8-4D4C-C723-E70C9C569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E3D606-EF79-75CB-EC20-854B4CD2E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A92A1-88A7-B6F2-5F04-C993EDC8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79BF-A261-454E-886D-ACA8EFF7026B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36B4B6-4C4D-7A27-E806-0E20BBA1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214CCB-B3F2-7AA0-F82C-0A5DA579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504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423D30-0A35-4D62-DD9B-A8DB70E5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050BF8-FB35-A20F-E135-0C08CE99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041974-634E-1CD1-9836-CA24D81A9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75ECC-67CD-476B-B935-1BA4B425F864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04DD31-FF6A-90C3-37FF-75D841710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DA470C-D226-2B4F-1193-17F4AC162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D7C0E-B5E2-46F8-8369-32F2BC9FE5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60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115328-F924-A35B-49F0-FE609C083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Analyse exploratoire, descriptive et inférentielle de données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0E22F6-8F19-FA47-F225-002EC210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fr-FR" dirty="0"/>
              <a:t>Bloc 2 du diplôme d'état - RNCP35288 - Niveau 6 (équivalent BAC+4)</a:t>
            </a:r>
          </a:p>
        </p:txBody>
      </p:sp>
      <p:pic>
        <p:nvPicPr>
          <p:cNvPr id="5" name="Image 4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A3FC900D-ED36-0720-40DD-A88D6CCCD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22" y="42040"/>
            <a:ext cx="2214137" cy="1153357"/>
          </a:xfrm>
          <a:prstGeom prst="rect">
            <a:avLst/>
          </a:prstGeom>
        </p:spPr>
      </p:pic>
      <p:pic>
        <p:nvPicPr>
          <p:cNvPr id="9" name="Image 8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0AE4B64-3113-4F98-C858-FC478D7B5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336"/>
            <a:ext cx="2228866" cy="847731"/>
          </a:xfrm>
          <a:prstGeom prst="rect">
            <a:avLst/>
          </a:prstGeom>
        </p:spPr>
      </p:pic>
      <p:sp>
        <p:nvSpPr>
          <p:cNvPr id="10" name="Sous-titre 2">
            <a:extLst>
              <a:ext uri="{FF2B5EF4-FFF2-40B4-BE49-F238E27FC236}">
                <a16:creationId xmlns:a16="http://schemas.microsoft.com/office/drawing/2014/main" id="{FA83D2CC-4624-1B29-144A-6AE224D37A4A}"/>
              </a:ext>
            </a:extLst>
          </p:cNvPr>
          <p:cNvSpPr txBox="1">
            <a:spLocks/>
          </p:cNvSpPr>
          <p:nvPr/>
        </p:nvSpPr>
        <p:spPr>
          <a:xfrm>
            <a:off x="604346" y="5984463"/>
            <a:ext cx="2732689" cy="642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Laura LUCCHINI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9F30600-3CE9-588F-002D-5B855DDB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447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1E17B-9F67-634B-F741-C6D681B9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B377ED-E658-32ED-5173-479F28D1AB85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84FFD61-311D-40F9-5C7E-94083BAB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2</a:t>
            </a:fld>
            <a:endParaRPr lang="fr-FR"/>
          </a:p>
        </p:txBody>
      </p:sp>
      <p:pic>
        <p:nvPicPr>
          <p:cNvPr id="4" name="Image 3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122AF226-EB63-09E2-613B-465F9A6B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544" y="42040"/>
            <a:ext cx="2622616" cy="13661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DB3DA64-6030-0707-E767-A6C00DC896EF}"/>
              </a:ext>
            </a:extLst>
          </p:cNvPr>
          <p:cNvSpPr txBox="1"/>
          <p:nvPr/>
        </p:nvSpPr>
        <p:spPr>
          <a:xfrm>
            <a:off x="2427890" y="1655064"/>
            <a:ext cx="8153962" cy="369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b="0" dirty="0">
                <a:effectLst/>
              </a:rPr>
              <a:t>Speed Dating Data </a:t>
            </a:r>
            <a:r>
              <a:rPr lang="fr-FR" b="0" dirty="0" err="1">
                <a:effectLst/>
              </a:rPr>
              <a:t>Analysis</a:t>
            </a: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Clien</a:t>
            </a:r>
            <a:r>
              <a:rPr lang="fr-FR" b="1" dirty="0"/>
              <a:t>t</a:t>
            </a:r>
            <a:r>
              <a:rPr lang="fr-FR" b="0" dirty="0">
                <a:effectLst/>
              </a:rPr>
              <a:t> : Tinder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Dates concernées</a:t>
            </a:r>
            <a:r>
              <a:rPr lang="fr-FR" b="0" dirty="0">
                <a:effectLst/>
              </a:rPr>
              <a:t> : 2002 - 2004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Nombre d'évènements</a:t>
            </a:r>
            <a:r>
              <a:rPr lang="fr-FR" b="0" dirty="0">
                <a:effectLst/>
              </a:rPr>
              <a:t> : 21 vagues de rencontres aboutissant à 8378 rencontres  </a:t>
            </a: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Nombre de participants</a:t>
            </a:r>
            <a:r>
              <a:rPr lang="fr-FR" b="0" dirty="0">
                <a:effectLst/>
              </a:rPr>
              <a:t> : 551 participants  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Problématique</a:t>
            </a:r>
            <a:r>
              <a:rPr lang="fr-FR" b="0" dirty="0">
                <a:effectLst/>
              </a:rPr>
              <a:t> : Depuis le lancement de l'application de rencontres en 2012, Tinder fait face à une diminution du nombre de matchs et tentent de trouver un moyen de comprendre ce qui fait que les gens s'intéressent les uns aux autres. 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fr-FR" b="1" dirty="0">
                <a:effectLst/>
              </a:rPr>
              <a:t>Objectif</a:t>
            </a:r>
            <a:r>
              <a:rPr lang="fr-FR" b="0" dirty="0">
                <a:effectLst/>
              </a:rPr>
              <a:t> : A partir de l'analyse des données récoltées dans le cadre de speed-datings physiques et dans le but de concevoir un algorithme affiné correspondant à l'utilisateur, Identifier les facteurs qui influencent la décision d'un premier rendez-vous après le speed-dating </a:t>
            </a:r>
          </a:p>
          <a:p>
            <a:pPr>
              <a:lnSpc>
                <a:spcPts val="1425"/>
              </a:lnSpc>
              <a:buNone/>
            </a:pPr>
            <a:br>
              <a:rPr lang="fr-FR" b="0" dirty="0">
                <a:effectLst/>
              </a:rPr>
            </a:br>
            <a:endParaRPr lang="fr-FR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540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252730-16CE-4AF2-CAF2-27AA000AFF7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37E93C-BEBC-6A24-6804-38B4FA08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B9285D-B843-132F-481B-FEF7E950F6D8}"/>
              </a:ext>
            </a:extLst>
          </p:cNvPr>
          <p:cNvSpPr txBox="1"/>
          <p:nvPr/>
        </p:nvSpPr>
        <p:spPr>
          <a:xfrm>
            <a:off x="1697736" y="76791"/>
            <a:ext cx="879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Visualisations descriptives: par sexe, par âge et par emploi</a:t>
            </a:r>
            <a:endParaRPr lang="fr-FR" dirty="0"/>
          </a:p>
        </p:txBody>
      </p:sp>
      <p:pic>
        <p:nvPicPr>
          <p:cNvPr id="11" name="Image 10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331EAD7-02C7-0E07-1DEA-F94BE5C9E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6" y="3006349"/>
            <a:ext cx="4224528" cy="3350001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253C3D4-AC96-1139-5A15-C6A90402858E}"/>
              </a:ext>
            </a:extLst>
          </p:cNvPr>
          <p:cNvSpPr txBox="1"/>
          <p:nvPr/>
        </p:nvSpPr>
        <p:spPr>
          <a:xfrm>
            <a:off x="854727" y="5026883"/>
            <a:ext cx="7202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551 participants.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parité Hommes / Femmes respectée.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âges des participants dans la même tranche (moins de 30 ans) mis à part 3 exceptions chez les hommes et 3 chez les femmes (non significatifs)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métiers principalement dans le domaine tertiaire ce qui est probablement lié à la localisation des speed </a:t>
            </a:r>
            <a:r>
              <a:rPr lang="fr-FR" dirty="0" err="1"/>
              <a:t>datings</a:t>
            </a:r>
            <a:endParaRPr lang="fr-FR" dirty="0"/>
          </a:p>
        </p:txBody>
      </p:sp>
      <p:pic>
        <p:nvPicPr>
          <p:cNvPr id="4" name="Image 3" descr="Une image contenant texte, capture d’écran, cercle, diagramme&#10;&#10;Le contenu généré par l’IA peut être incorrect.">
            <a:extLst>
              <a:ext uri="{FF2B5EF4-FFF2-40B4-BE49-F238E27FC236}">
                <a16:creationId xmlns:a16="http://schemas.microsoft.com/office/drawing/2014/main" id="{2A259F2F-5409-B187-8307-9C6F35A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916" y="0"/>
            <a:ext cx="3036506" cy="3035555"/>
          </a:xfrm>
          <a:prstGeom prst="rect">
            <a:avLst/>
          </a:prstGeom>
        </p:spPr>
      </p:pic>
      <p:pic>
        <p:nvPicPr>
          <p:cNvPr id="7" name="Image 6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AB30D73A-7783-BDD0-C59D-AC6969AC5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61" y="446124"/>
            <a:ext cx="7757705" cy="45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75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64E04-EF09-37AC-7F93-3F56B1CE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3BF131-EABB-3FD0-CF0D-E34C89198A6D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1DDA9363-36C0-E6C6-6CF5-8FFC3BB17889}"/>
              </a:ext>
            </a:extLst>
          </p:cNvPr>
          <p:cNvGrpSpPr/>
          <p:nvPr/>
        </p:nvGrpSpPr>
        <p:grpSpPr>
          <a:xfrm>
            <a:off x="588326" y="1974028"/>
            <a:ext cx="10765474" cy="4883972"/>
            <a:chOff x="588326" y="2137676"/>
            <a:chExt cx="10143068" cy="4720324"/>
          </a:xfrm>
        </p:grpSpPr>
        <p:pic>
          <p:nvPicPr>
            <p:cNvPr id="7" name="Image 6" descr="Une image contenant texte, capture d’écran, diagramme, ligne&#10;&#10;Le contenu généré par l’IA peut être incorrect.">
              <a:extLst>
                <a:ext uri="{FF2B5EF4-FFF2-40B4-BE49-F238E27FC236}">
                  <a16:creationId xmlns:a16="http://schemas.microsoft.com/office/drawing/2014/main" id="{7EBC8ED3-4958-C3CC-2C5C-1FDC99847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6422" y="2137676"/>
              <a:ext cx="5194972" cy="4583799"/>
            </a:xfrm>
            <a:prstGeom prst="rect">
              <a:avLst/>
            </a:prstGeom>
          </p:spPr>
        </p:pic>
        <p:pic>
          <p:nvPicPr>
            <p:cNvPr id="30" name="Image 29" descr="Une image contenant texte, capture d’écran, diagramme, Tracé&#10;&#10;Le contenu généré par l’IA peut être incorrect.">
              <a:extLst>
                <a:ext uri="{FF2B5EF4-FFF2-40B4-BE49-F238E27FC236}">
                  <a16:creationId xmlns:a16="http://schemas.microsoft.com/office/drawing/2014/main" id="{B3A700A6-B168-FBA5-179F-A406B488A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326" y="2137676"/>
              <a:ext cx="4802791" cy="4720324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AB8562B-D34A-45CB-808A-A57823383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0AAF65-5681-6ADA-05DE-4B6B2D4AAA9F}"/>
              </a:ext>
            </a:extLst>
          </p:cNvPr>
          <p:cNvSpPr txBox="1"/>
          <p:nvPr/>
        </p:nvSpPr>
        <p:spPr>
          <a:xfrm>
            <a:off x="1828800" y="274320"/>
            <a:ext cx="952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Axe d'analyse n°1: est ce que la notation des critères chez le partenaire évolue au fil du temps?</a:t>
            </a:r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13B4E3-0248-F194-5B93-CFFD19498B1D}"/>
              </a:ext>
            </a:extLst>
          </p:cNvPr>
          <p:cNvSpPr txBox="1"/>
          <p:nvPr/>
        </p:nvSpPr>
        <p:spPr>
          <a:xfrm>
            <a:off x="1949669" y="748186"/>
            <a:ext cx="87393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Chaque participant a noté l’importance</a:t>
            </a:r>
            <a:r>
              <a:rPr lang="fr-FR" dirty="0"/>
              <a:t> </a:t>
            </a:r>
            <a:r>
              <a:rPr lang="fr-FR" sz="1200" dirty="0"/>
              <a:t>de 6 critères chez un partenaire potentiel à 4 moments différents: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Avant le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Pendant le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Au lendemain du speed-dating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1200" dirty="0"/>
              <a:t>3 à 4 semaines après le speed-dating</a:t>
            </a:r>
          </a:p>
        </p:txBody>
      </p:sp>
      <p:pic>
        <p:nvPicPr>
          <p:cNvPr id="10" name="Image 9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4A2F7265-193F-D4AC-5767-52AA8164F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967" y="1038497"/>
            <a:ext cx="1399629" cy="73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6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33E-5C1A-DAA7-15C0-5EDE3D4E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9F7FD9-0AEB-588F-9F70-7650048BD40C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B17FCD6-E5BE-1BA5-6C73-EB9B0EA7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9DFA881-75E3-D7B7-9EF1-98AE3D218A0C}"/>
              </a:ext>
            </a:extLst>
          </p:cNvPr>
          <p:cNvSpPr txBox="1"/>
          <p:nvPr/>
        </p:nvSpPr>
        <p:spPr>
          <a:xfrm>
            <a:off x="1954924" y="405348"/>
            <a:ext cx="1030013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Analyse des critères d’attractivité dans le temps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Les notations des participants mettent en évidence des dynamiques différenciées selon le genre :</a:t>
            </a:r>
            <a:endParaRPr lang="fr-FR" dirty="0"/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Chez les hommes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La </a:t>
            </a:r>
            <a:r>
              <a:rPr lang="fr-FR" b="1" dirty="0"/>
              <a:t>beauté </a:t>
            </a:r>
            <a:r>
              <a:rPr lang="fr-FR" dirty="0"/>
              <a:t>demeure le critère dominant à tous les moments de mesure.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lendemain de l’événement, le critère </a:t>
            </a:r>
            <a:r>
              <a:rPr lang="fr-FR" b="1" dirty="0"/>
              <a:t>« humour »</a:t>
            </a:r>
            <a:r>
              <a:rPr lang="fr-FR" dirty="0"/>
              <a:t> progresse et devance l’</a:t>
            </a:r>
            <a:r>
              <a:rPr lang="fr-FR" b="1" dirty="0"/>
              <a:t>intelligence</a:t>
            </a:r>
            <a:r>
              <a:rPr lang="fr-FR" dirty="0"/>
              <a:t>, habituellement citée comme deuxième qualité recherchée.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écarts entre le critère principal et les autres attributs sont </a:t>
            </a:r>
            <a:r>
              <a:rPr lang="fr-FR" b="1" dirty="0"/>
              <a:t>nettement marqués</a:t>
            </a:r>
            <a:r>
              <a:rPr lang="fr-FR" dirty="0"/>
              <a:t>, traduisant une hiérarchisation claire des préférences.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Chez les femmes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Avant le speed dating, l’</a:t>
            </a:r>
            <a:r>
              <a:rPr lang="fr-FR" b="1" dirty="0"/>
              <a:t>intelligence</a:t>
            </a:r>
            <a:r>
              <a:rPr lang="fr-FR" dirty="0"/>
              <a:t> est déclarée comme le principal facteur d’attractivité.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À partir du speed dating, la </a:t>
            </a:r>
            <a:r>
              <a:rPr lang="fr-FR" b="1" dirty="0"/>
              <a:t>beauté </a:t>
            </a:r>
            <a:r>
              <a:rPr lang="fr-FR" dirty="0"/>
              <a:t>devient le critère n°1 et le reste dans le temps.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différences entre attributs sont </a:t>
            </a:r>
            <a:r>
              <a:rPr lang="fr-FR" b="1" dirty="0"/>
              <a:t>plus modérées</a:t>
            </a:r>
            <a:r>
              <a:rPr lang="fr-FR" dirty="0"/>
              <a:t> que chez les hommes, suggérant des préférences plus équilibrées.</a:t>
            </a:r>
          </a:p>
          <a:p>
            <a:pPr>
              <a:buNone/>
            </a:pPr>
            <a:br>
              <a:rPr lang="fr-FR" dirty="0"/>
            </a:br>
            <a:endParaRPr lang="fr-FR" dirty="0"/>
          </a:p>
          <a:p>
            <a:pPr>
              <a:buNone/>
            </a:pPr>
            <a:r>
              <a:rPr lang="fr-FR" b="1" dirty="0"/>
              <a:t>➜ À retenir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speed dating </a:t>
            </a:r>
            <a:r>
              <a:rPr lang="fr-FR" b="1" dirty="0"/>
              <a:t>ne modifie pas les préférences exprimées par les hommes</a:t>
            </a:r>
            <a:r>
              <a:rPr lang="fr-F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Il entraîne en revanche une </a:t>
            </a:r>
            <a:r>
              <a:rPr lang="fr-FR" b="1" dirty="0"/>
              <a:t>évolution plus marquée des critères déclarés par les femmes</a:t>
            </a:r>
            <a:r>
              <a:rPr lang="fr-FR" dirty="0"/>
              <a:t>, avec un recentrage sur la beauté après l’expérience.</a:t>
            </a:r>
          </a:p>
        </p:txBody>
      </p:sp>
    </p:spTree>
    <p:extLst>
      <p:ext uri="{BB962C8B-B14F-4D97-AF65-F5344CB8AC3E}">
        <p14:creationId xmlns:p14="http://schemas.microsoft.com/office/powerpoint/2010/main" val="29011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E44D9-CBBA-5C5B-206B-C51F4D52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94ED33-0B97-8D17-034C-2B1C78E70C8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5CC123-18EE-091A-97C4-AFD6E182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6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2119FBF-979E-5D12-C3E6-E7420CC8E755}"/>
              </a:ext>
            </a:extLst>
          </p:cNvPr>
          <p:cNvSpPr txBox="1"/>
          <p:nvPr/>
        </p:nvSpPr>
        <p:spPr>
          <a:xfrm>
            <a:off x="1707930" y="0"/>
            <a:ext cx="10036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Axe d'analyse n°2: est ce que la façon dont les participants s'auto-évaluent a une incidence sur le fait d'avoir un match?</a:t>
            </a:r>
            <a:endParaRPr lang="fr-FR" dirty="0"/>
          </a:p>
          <a:p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F3DCFE7-C65D-0C65-24CE-649A06D654FA}"/>
              </a:ext>
            </a:extLst>
          </p:cNvPr>
          <p:cNvSpPr txBox="1"/>
          <p:nvPr/>
        </p:nvSpPr>
        <p:spPr>
          <a:xfrm>
            <a:off x="2065282" y="817719"/>
            <a:ext cx="6038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Il a été demandé à chaque participant de s’auto-évaluer avant et après le speed-dating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A416652E-A76B-9153-24A9-20E61EDFFDDB}"/>
              </a:ext>
            </a:extLst>
          </p:cNvPr>
          <p:cNvGrpSpPr/>
          <p:nvPr/>
        </p:nvGrpSpPr>
        <p:grpSpPr>
          <a:xfrm>
            <a:off x="107767" y="2420471"/>
            <a:ext cx="11887010" cy="3898059"/>
            <a:chOff x="398223" y="2065904"/>
            <a:chExt cx="10784352" cy="3284437"/>
          </a:xfrm>
        </p:grpSpPr>
        <p:pic>
          <p:nvPicPr>
            <p:cNvPr id="5" name="Image 4" descr="Une image contenant texte, capture d’écran, ligne, Tracé&#10;&#10;Le contenu généré par l’IA peut être incorrect.">
              <a:extLst>
                <a:ext uri="{FF2B5EF4-FFF2-40B4-BE49-F238E27FC236}">
                  <a16:creationId xmlns:a16="http://schemas.microsoft.com/office/drawing/2014/main" id="{FF1C3C7D-B05A-F40C-ABE3-69FE2404F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223" y="2065904"/>
              <a:ext cx="5277938" cy="3223166"/>
            </a:xfrm>
            <a:prstGeom prst="rect">
              <a:avLst/>
            </a:prstGeom>
          </p:spPr>
        </p:pic>
        <p:pic>
          <p:nvPicPr>
            <p:cNvPr id="11" name="Image 10" descr="Une image contenant texte, capture d’écran, ligne, Caractère coloré&#10;&#10;Le contenu généré par l’IA peut être incorrect.">
              <a:extLst>
                <a:ext uri="{FF2B5EF4-FFF2-40B4-BE49-F238E27FC236}">
                  <a16:creationId xmlns:a16="http://schemas.microsoft.com/office/drawing/2014/main" id="{9042A79F-F3F8-14D2-F762-89FB48F4A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7247" y="2065904"/>
              <a:ext cx="5615328" cy="3284437"/>
            </a:xfrm>
            <a:prstGeom prst="rect">
              <a:avLst/>
            </a:prstGeom>
          </p:spPr>
        </p:pic>
      </p:grpSp>
      <p:pic>
        <p:nvPicPr>
          <p:cNvPr id="15" name="Image 14" descr="Une image contenant texte, Police, blanc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727DDE9-9649-999A-7786-61E363CFD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393" y="1305442"/>
            <a:ext cx="1371214" cy="87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0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FE9F-CF09-B9C8-4DDF-C562A02E3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BB3775-1EDE-B4D9-92AC-169020A0DCAA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D7EB82F-2202-D905-7D05-A5C01861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7</a:t>
            </a:fld>
            <a:endParaRPr lang="fr-FR"/>
          </a:p>
        </p:txBody>
      </p:sp>
      <p:pic>
        <p:nvPicPr>
          <p:cNvPr id="5" name="Image 4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219B8340-768F-665E-1664-78CC47BB2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62" y="7616"/>
            <a:ext cx="4741401" cy="4248379"/>
          </a:xfrm>
          <a:prstGeom prst="rect">
            <a:avLst/>
          </a:prstGeom>
        </p:spPr>
      </p:pic>
      <p:pic>
        <p:nvPicPr>
          <p:cNvPr id="9" name="Image 8" descr="Une image contenant texte, capture d’écran, carré, Rectangle&#10;&#10;Le contenu généré par l’IA peut être incorrect.">
            <a:extLst>
              <a:ext uri="{FF2B5EF4-FFF2-40B4-BE49-F238E27FC236}">
                <a16:creationId xmlns:a16="http://schemas.microsoft.com/office/drawing/2014/main" id="{657CD3D2-0316-6ADB-2B51-B5EE72D4B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191" y="7615"/>
            <a:ext cx="4741401" cy="424837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FB99B4A-9073-C882-7918-AFBED87CAE58}"/>
              </a:ext>
            </a:extLst>
          </p:cNvPr>
          <p:cNvSpPr txBox="1"/>
          <p:nvPr/>
        </p:nvSpPr>
        <p:spPr>
          <a:xfrm>
            <a:off x="2118360" y="4255995"/>
            <a:ext cx="118506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1" dirty="0"/>
              <a:t>Impact de l’auto-évaluation sur l’obtention d’un match</a:t>
            </a:r>
          </a:p>
          <a:p>
            <a:pPr>
              <a:buNone/>
            </a:pPr>
            <a:r>
              <a:rPr lang="fr-FR" sz="1400" b="1" dirty="0"/>
              <a:t>L’analyse montre que l’auto-évaluation des participants évolue peu selon qu’ils obtiennent un match ou non.</a:t>
            </a:r>
            <a:endParaRPr lang="fr-FR" sz="1400" dirty="0"/>
          </a:p>
          <a:p>
            <a:pPr>
              <a:buNone/>
            </a:pPr>
            <a:r>
              <a:rPr lang="fr-FR" sz="1400" b="1" dirty="0"/>
              <a:t>Chez les hommes</a:t>
            </a:r>
            <a:endParaRPr lang="fr-F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L’auto-évaluation après le speed dating est </a:t>
            </a:r>
            <a:r>
              <a:rPr lang="fr-FR" sz="1400" b="1" dirty="0"/>
              <a:t>légèrement inférieure</a:t>
            </a:r>
            <a:r>
              <a:rPr lang="fr-FR" sz="1400" dirty="0"/>
              <a:t> à celle mesurée avant l’événement</a:t>
            </a:r>
            <a:br>
              <a:rPr lang="fr-FR" sz="1400" dirty="0"/>
            </a:br>
            <a:r>
              <a:rPr lang="fr-FR" sz="1400" i="1" dirty="0"/>
              <a:t>(–0,06 point sur l’attribut principal, indépendamment de l’obtention d’un match)</a:t>
            </a:r>
            <a:r>
              <a:rPr lang="fr-FR" sz="1400" dirty="0"/>
              <a:t>.</a:t>
            </a:r>
          </a:p>
          <a:p>
            <a:pPr>
              <a:buNone/>
            </a:pPr>
            <a:r>
              <a:rPr lang="fr-FR" sz="1400" b="1" dirty="0"/>
              <a:t>Chez les femmes</a:t>
            </a:r>
            <a:endParaRPr lang="fr-F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En cas de match, l’auto-évaluation du meilleur attribut </a:t>
            </a:r>
            <a:r>
              <a:rPr lang="fr-FR" sz="1400" b="1" dirty="0"/>
              <a:t>progresse légèrement</a:t>
            </a:r>
            <a:r>
              <a:rPr lang="fr-FR" sz="1400" dirty="0"/>
              <a:t> </a:t>
            </a:r>
            <a:r>
              <a:rPr lang="fr-FR" sz="1400" i="1" dirty="0"/>
              <a:t>(+0,06 point)</a:t>
            </a:r>
            <a:r>
              <a:rPr lang="fr-F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En l’absence de match, elle </a:t>
            </a:r>
            <a:r>
              <a:rPr lang="fr-FR" sz="1400" b="1" dirty="0"/>
              <a:t>diminue marginalement</a:t>
            </a:r>
            <a:r>
              <a:rPr lang="fr-FR" sz="1400" dirty="0"/>
              <a:t> </a:t>
            </a:r>
            <a:r>
              <a:rPr lang="fr-FR" sz="1400" i="1" dirty="0"/>
              <a:t>(–0,02 point)</a:t>
            </a:r>
            <a:r>
              <a:rPr lang="fr-FR" sz="1400" dirty="0"/>
              <a:t>.</a:t>
            </a:r>
          </a:p>
          <a:p>
            <a:pPr>
              <a:buNone/>
            </a:pPr>
            <a:r>
              <a:rPr lang="fr-FR" sz="1400" b="1" dirty="0"/>
              <a:t>Globalement</a:t>
            </a:r>
            <a:endParaRPr lang="fr-F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Les écarts d’auto-évaluation entre participants ayant obtenu un match et ceux n’en ayant pas obtenu sont </a:t>
            </a:r>
            <a:r>
              <a:rPr lang="fr-FR" sz="1400" b="1" dirty="0"/>
              <a:t>faibles et non significatifs</a:t>
            </a:r>
            <a:r>
              <a:rPr lang="fr-FR" sz="1400" dirty="0"/>
              <a:t>.</a:t>
            </a:r>
          </a:p>
          <a:p>
            <a:pPr>
              <a:buNone/>
            </a:pPr>
            <a:r>
              <a:rPr lang="fr-FR" sz="1400" b="1" dirty="0"/>
              <a:t>➜ À retenir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400" dirty="0"/>
              <a:t>La manière dont les participants s’auto-évaluent </a:t>
            </a:r>
            <a:r>
              <a:rPr lang="fr-FR" sz="1400" b="1" dirty="0"/>
              <a:t>n’a pas d’impact notable</a:t>
            </a:r>
            <a:r>
              <a:rPr lang="fr-FR" sz="1400" dirty="0"/>
              <a:t> sur la probabilité d’obtenir un match.</a:t>
            </a:r>
          </a:p>
        </p:txBody>
      </p:sp>
    </p:spTree>
    <p:extLst>
      <p:ext uri="{BB962C8B-B14F-4D97-AF65-F5344CB8AC3E}">
        <p14:creationId xmlns:p14="http://schemas.microsoft.com/office/powerpoint/2010/main" val="303913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CBEFE-5045-023E-CDC6-EF404781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887F9-7513-332E-35BC-6609FC6A36ED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18F4C1-D575-2AA9-4537-048422106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8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DE0570-0B35-35E9-26E4-E16930486C9A}"/>
              </a:ext>
            </a:extLst>
          </p:cNvPr>
          <p:cNvSpPr txBox="1"/>
          <p:nvPr/>
        </p:nvSpPr>
        <p:spPr>
          <a:xfrm>
            <a:off x="1707931" y="47560"/>
            <a:ext cx="11193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Axe d'analyse n°3: Est ce que les speed-datings à thèmes conduisent à plus de matchs entre les participants?</a:t>
            </a:r>
            <a:endParaRPr lang="fr-FR" dirty="0"/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1379E58-5DDB-4960-3ECC-B3E4F4FD6FE9}"/>
              </a:ext>
            </a:extLst>
          </p:cNvPr>
          <p:cNvSpPr txBox="1"/>
          <p:nvPr/>
        </p:nvSpPr>
        <p:spPr>
          <a:xfrm>
            <a:off x="2080115" y="4395787"/>
            <a:ext cx="89185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Impact des speed-datings à thèmes sur les matchs:</a:t>
            </a:r>
          </a:p>
          <a:p>
            <a:endParaRPr lang="fr-FR" sz="1400" dirty="0"/>
          </a:p>
          <a:p>
            <a:r>
              <a:rPr lang="fr-FR" sz="1400" dirty="0"/>
              <a:t>L’analyse des données montre que </a:t>
            </a:r>
            <a:r>
              <a:rPr lang="fr-FR" sz="1400" b="1" dirty="0"/>
              <a:t>les rencontres avec un thème commun</a:t>
            </a:r>
            <a:r>
              <a:rPr lang="fr-FR" sz="1400" dirty="0"/>
              <a:t> (ex : participants arrivant avec un livre ou un magazine) </a:t>
            </a:r>
            <a:r>
              <a:rPr lang="fr-FR" sz="1400" b="1" dirty="0"/>
              <a:t>ne génèrent pas un taux de matchs plus élevé</a:t>
            </a:r>
            <a:r>
              <a:rPr lang="fr-FR" sz="1400" dirty="0"/>
              <a:t> que les sessions classiques.</a:t>
            </a:r>
          </a:p>
          <a:p>
            <a:endParaRPr lang="fr-FR" sz="1400" dirty="0"/>
          </a:p>
          <a:p>
            <a:r>
              <a:rPr lang="fr-FR" sz="1400" b="1" dirty="0"/>
              <a:t>→ À retenir:</a:t>
            </a:r>
            <a:r>
              <a:rPr lang="fr-FR" sz="1400" dirty="0"/>
              <a:t> </a:t>
            </a:r>
            <a:r>
              <a:rPr lang="fr-FR" sz="1400" b="1" dirty="0"/>
              <a:t>Un intérêt commun</a:t>
            </a:r>
            <a:r>
              <a:rPr lang="fr-FR" sz="1400" dirty="0"/>
              <a:t> (ex : lecture) ne semble pas </a:t>
            </a:r>
            <a:r>
              <a:rPr lang="fr-FR" sz="1400" b="1" dirty="0"/>
              <a:t>augmenter significativement</a:t>
            </a:r>
            <a:r>
              <a:rPr lang="fr-FR" sz="1400" dirty="0"/>
              <a:t> les chances de match entre les participants.</a:t>
            </a:r>
          </a:p>
          <a:p>
            <a:endParaRPr lang="fr-FR" sz="1400" dirty="0"/>
          </a:p>
          <a:p>
            <a:r>
              <a:rPr lang="fr-FR" sz="1400" b="1" dirty="0"/>
              <a:t>Note méthodologique</a:t>
            </a:r>
            <a:r>
              <a:rPr lang="fr-FR" sz="1400" dirty="0"/>
              <a:t> Ces résultats sont à considérer </a:t>
            </a:r>
            <a:r>
              <a:rPr lang="fr-FR" sz="1400" b="1" dirty="0"/>
              <a:t>sous réserve d’un échantillon réduit</a:t>
            </a:r>
            <a:r>
              <a:rPr lang="fr-FR" sz="1400" dirty="0"/>
              <a:t>. Une analyse sur un plus grand volume de données serait nécessaire pour confirmer cette tendance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683048E8-92A3-0832-D098-98B5AF6A8E97}"/>
              </a:ext>
            </a:extLst>
          </p:cNvPr>
          <p:cNvGrpSpPr/>
          <p:nvPr/>
        </p:nvGrpSpPr>
        <p:grpSpPr>
          <a:xfrm>
            <a:off x="2257572" y="424099"/>
            <a:ext cx="9451231" cy="3849738"/>
            <a:chOff x="1902569" y="741450"/>
            <a:chExt cx="9867900" cy="4257676"/>
          </a:xfrm>
        </p:grpSpPr>
        <p:pic>
          <p:nvPicPr>
            <p:cNvPr id="6" name="Image 5" descr="Une image contenant texte, capture d’écran, cercle, diagramme&#10;&#10;Le contenu généré par l’IA peut être incorrect.">
              <a:extLst>
                <a:ext uri="{FF2B5EF4-FFF2-40B4-BE49-F238E27FC236}">
                  <a16:creationId xmlns:a16="http://schemas.microsoft.com/office/drawing/2014/main" id="{8A9D5C53-A29A-E1B7-9156-F2BDA8452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2569" y="741451"/>
              <a:ext cx="5076825" cy="4257675"/>
            </a:xfrm>
            <a:prstGeom prst="rect">
              <a:avLst/>
            </a:prstGeom>
          </p:spPr>
        </p:pic>
        <p:pic>
          <p:nvPicPr>
            <p:cNvPr id="12" name="Image 11" descr="Une image contenant texte, capture d’écran, cercle, Police&#10;&#10;Le contenu généré par l’IA peut être incorrect.">
              <a:extLst>
                <a:ext uri="{FF2B5EF4-FFF2-40B4-BE49-F238E27FC236}">
                  <a16:creationId xmlns:a16="http://schemas.microsoft.com/office/drawing/2014/main" id="{64E4CA8A-E6C8-9646-D897-F24AC7C3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79394" y="741450"/>
              <a:ext cx="4791075" cy="425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901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87D89-F093-835B-538F-A35876B7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ercle,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457C655-4FEA-F050-7909-718C49676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63" y="618988"/>
            <a:ext cx="8753931" cy="62520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9117B0-66CF-5A19-4DA8-4C9EF183E518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C2D8E65-7C23-D806-662C-7676A0C5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9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987E20-4FFE-4B95-568D-74D340BEAA97}"/>
              </a:ext>
            </a:extLst>
          </p:cNvPr>
          <p:cNvSpPr txBox="1"/>
          <p:nvPr/>
        </p:nvSpPr>
        <p:spPr>
          <a:xfrm>
            <a:off x="365760" y="210312"/>
            <a:ext cx="11649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Axe d'analyse n°4: Est ce que l'objectif principal incitant les participants à participer au speed-dating a une incidence sur le taux de match?</a:t>
            </a:r>
            <a:endParaRPr lang="fr-FR" dirty="0"/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4A12BD-DA03-64CA-7809-0D67DE5F44BA}"/>
              </a:ext>
            </a:extLst>
          </p:cNvPr>
          <p:cNvSpPr txBox="1"/>
          <p:nvPr/>
        </p:nvSpPr>
        <p:spPr>
          <a:xfrm>
            <a:off x="301752" y="1975281"/>
            <a:ext cx="24835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Les taux de matchs sont relativement semblables d'un objectif à l'autre, seul l'objectif "autre" conduit à un taux en dessous de 15%</a:t>
            </a:r>
          </a:p>
          <a:p>
            <a:br>
              <a:rPr lang="fr-FR" sz="1400" dirty="0"/>
            </a:br>
            <a:endParaRPr lang="fr-FR" sz="1400" dirty="0"/>
          </a:p>
          <a:p>
            <a:r>
              <a:rPr lang="fr-FR" sz="1400" b="1" dirty="0"/>
              <a:t>→ À retenir</a:t>
            </a:r>
            <a:endParaRPr lang="fr-FR" sz="1400" dirty="0"/>
          </a:p>
          <a:p>
            <a:br>
              <a:rPr lang="fr-FR" sz="1400" dirty="0"/>
            </a:br>
            <a:endParaRPr lang="fr-FR" sz="1400" dirty="0"/>
          </a:p>
          <a:p>
            <a:r>
              <a:rPr lang="fr-FR" sz="1400" dirty="0"/>
              <a:t>L'objectif avec lequel les participants assistent à un speed dating n'a pas d'impact significatif sur le fait d'obtenir un match ou non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1412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51F4-DC5E-9208-15BC-DAFBD609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8D1705BF-A249-6B2A-92A3-3346B01A9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55" y="3598132"/>
            <a:ext cx="4072760" cy="3210800"/>
          </a:xfrm>
          <a:prstGeom prst="rect">
            <a:avLst/>
          </a:prstGeom>
        </p:spPr>
      </p:pic>
      <p:pic>
        <p:nvPicPr>
          <p:cNvPr id="6" name="Image 5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B12E0153-BFCE-8561-DC8A-4BD560C1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33" y="361106"/>
            <a:ext cx="5163743" cy="31271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5F32FA-A1D3-4793-146A-F36170201CF6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F30E595-8E9B-0A18-B441-86C9E9C9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10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94248F-52C3-715F-7FFE-D7B5F4C2C048}"/>
              </a:ext>
            </a:extLst>
          </p:cNvPr>
          <p:cNvSpPr txBox="1"/>
          <p:nvPr/>
        </p:nvSpPr>
        <p:spPr>
          <a:xfrm>
            <a:off x="1783080" y="0"/>
            <a:ext cx="10140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Axe d'analyse n°5: Est ce que le fait d'avoir un match a une incidence sur le fait d'avoir un rendez-vous?</a:t>
            </a:r>
            <a:endParaRPr lang="fr-FR" dirty="0"/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8DB7B8-BCF8-0D8A-D3D8-24325158A5EE}"/>
              </a:ext>
            </a:extLst>
          </p:cNvPr>
          <p:cNvSpPr txBox="1"/>
          <p:nvPr/>
        </p:nvSpPr>
        <p:spPr>
          <a:xfrm>
            <a:off x="0" y="489959"/>
            <a:ext cx="76657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16,5% des participants (soit 8,25 % des rencontres) </a:t>
            </a:r>
            <a:r>
              <a:rPr lang="fr-FR" sz="1200" dirty="0"/>
              <a:t>ont obtenu un match.</a:t>
            </a:r>
          </a:p>
          <a:p>
            <a:endParaRPr lang="fr-FR" sz="1200" dirty="0"/>
          </a:p>
          <a:p>
            <a:r>
              <a:rPr lang="fr-FR" sz="1200" dirty="0"/>
              <a:t>Parmi eux, 51,1% ont eu un premier rendez-vous.</a:t>
            </a:r>
          </a:p>
          <a:p>
            <a:r>
              <a:rPr lang="fr-FR" sz="1200" dirty="0"/>
              <a:t>Parmi ceux sans match, 34,8% ont tout de même eu un rendez-vous.</a:t>
            </a:r>
          </a:p>
          <a:p>
            <a:br>
              <a:rPr lang="fr-FR" sz="1200" dirty="0"/>
            </a:br>
            <a:r>
              <a:rPr lang="fr-FR" sz="1200" b="1" dirty="0"/>
              <a:t>→ Constat</a:t>
            </a:r>
          </a:p>
          <a:p>
            <a:r>
              <a:rPr lang="fr-FR" sz="1200" dirty="0"/>
              <a:t>Bien qu’un match doive théoriquement favoriser les rendez-vous, l’écart observé (51,1 % vs 34,8 %) reste moins marqué qu’attendu.</a:t>
            </a:r>
          </a:p>
          <a:p>
            <a:endParaRPr lang="fr-FR" sz="1200" b="1" dirty="0"/>
          </a:p>
          <a:p>
            <a:r>
              <a:rPr lang="fr-FR" sz="1200" b="1" dirty="0"/>
              <a:t>→ Questionnement</a:t>
            </a:r>
          </a:p>
          <a:p>
            <a:r>
              <a:rPr lang="fr-FR" sz="1200" dirty="0"/>
              <a:t>Incohérence possible : Les participants sans match ne devraient pas pouvoir se rencontrer ultérieurement.</a:t>
            </a:r>
          </a:p>
          <a:p>
            <a:r>
              <a:rPr lang="fr-FR" sz="1200" dirty="0"/>
              <a:t>Hypothèse alternative : Possibilité de "matchs a posteriori" non documentés.</a:t>
            </a:r>
          </a:p>
          <a:p>
            <a:endParaRPr lang="fr-FR" sz="1200" dirty="0"/>
          </a:p>
          <a:p>
            <a:r>
              <a:rPr lang="fr-FR" sz="1200" b="1" dirty="0"/>
              <a:t>→ À retenir</a:t>
            </a:r>
          </a:p>
          <a:p>
            <a:r>
              <a:rPr lang="fr-FR" sz="1200" dirty="0"/>
              <a:t>L’impact d’un match sur l’obtention d’un rendez-vous est moins net que prévu, soulignant un doute sur la qualité ou la cohérence des données.</a:t>
            </a:r>
          </a:p>
          <a:p>
            <a:br>
              <a:rPr lang="fr-FR" sz="1400" dirty="0"/>
            </a:br>
            <a:endParaRPr lang="fr-FR" sz="1400" dirty="0"/>
          </a:p>
          <a:p>
            <a:endParaRPr lang="fr-FR" sz="1400" dirty="0"/>
          </a:p>
        </p:txBody>
      </p:sp>
      <p:pic>
        <p:nvPicPr>
          <p:cNvPr id="13" name="Image 12" descr="Une image contenant texte, capture d’écran, diagramme, cercle&#10;&#10;Le contenu généré par l’IA peut être incorrect.">
            <a:extLst>
              <a:ext uri="{FF2B5EF4-FFF2-40B4-BE49-F238E27FC236}">
                <a16:creationId xmlns:a16="http://schemas.microsoft.com/office/drawing/2014/main" id="{6CA9983F-BD7B-F473-F3B9-3AB21AD4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608" y="3603448"/>
            <a:ext cx="4502538" cy="30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4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76578-B740-A51F-BA54-F7B693E5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A2A9C2-5B36-F1BA-D24F-B0A19FAE6544}"/>
              </a:ext>
            </a:extLst>
          </p:cNvPr>
          <p:cNvSpPr/>
          <p:nvPr/>
        </p:nvSpPr>
        <p:spPr>
          <a:xfrm>
            <a:off x="0" y="0"/>
            <a:ext cx="1707931" cy="6858000"/>
          </a:xfrm>
          <a:prstGeom prst="rect">
            <a:avLst/>
          </a:prstGeom>
          <a:solidFill>
            <a:srgbClr val="F3D6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F7E091-CE0E-A746-B28F-3D40F453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11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D7D0D6-3798-72DC-AFA3-565395857358}"/>
              </a:ext>
            </a:extLst>
          </p:cNvPr>
          <p:cNvSpPr txBox="1"/>
          <p:nvPr/>
        </p:nvSpPr>
        <p:spPr>
          <a:xfrm>
            <a:off x="661153" y="165834"/>
            <a:ext cx="1100632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Facteurs influençant l’obtention d’un premier rendez-vous</a:t>
            </a:r>
          </a:p>
          <a:p>
            <a:endParaRPr lang="fr-FR" sz="1400" dirty="0"/>
          </a:p>
          <a:p>
            <a:r>
              <a:rPr lang="fr-FR" sz="1400" b="1" dirty="0"/>
              <a:t>→ Conclusion</a:t>
            </a:r>
            <a:r>
              <a:rPr lang="fr-FR" sz="1400" dirty="0"/>
              <a:t> Les axes analysés </a:t>
            </a:r>
            <a:r>
              <a:rPr lang="fr-FR" sz="1400" b="1" dirty="0"/>
              <a:t>ne permettent pas d’identifier</a:t>
            </a:r>
            <a:r>
              <a:rPr lang="fr-FR" sz="1400" dirty="0"/>
              <a:t> les facteurs influençant la décision d’un premier rendez-vous après un speed-dating.</a:t>
            </a:r>
          </a:p>
          <a:p>
            <a:br>
              <a:rPr lang="fr-FR" sz="1400" dirty="0"/>
            </a:br>
            <a:endParaRPr lang="fr-FR" sz="1400" dirty="0"/>
          </a:p>
          <a:p>
            <a:r>
              <a:rPr lang="fr-FR" sz="1400" b="1" dirty="0"/>
              <a:t>Limites de l’analyse et recommandations:</a:t>
            </a:r>
          </a:p>
          <a:p>
            <a:endParaRPr lang="fr-FR" sz="1400" dirty="0"/>
          </a:p>
          <a:p>
            <a:r>
              <a:rPr lang="fr-FR" sz="1400" b="1" dirty="0"/>
              <a:t>Objectif initial:</a:t>
            </a:r>
            <a:r>
              <a:rPr lang="fr-FR" sz="1400" dirty="0"/>
              <a:t> Aider Tinder à identifier les </a:t>
            </a:r>
            <a:r>
              <a:rPr lang="fr-FR" sz="1400" b="1" dirty="0"/>
              <a:t>facteurs clés de succès</a:t>
            </a:r>
            <a:r>
              <a:rPr lang="fr-FR" sz="1400" dirty="0"/>
              <a:t> pour qu’un match sur leur application aboutisse à un premier rendez-vous, voire à une relation durable. L’objectif était de construire un </a:t>
            </a:r>
            <a:r>
              <a:rPr lang="fr-FR" sz="1400" b="1" dirty="0"/>
              <a:t>modèle prédictif</a:t>
            </a:r>
            <a:r>
              <a:rPr lang="fr-FR" sz="1400" dirty="0"/>
              <a:t> mettant en avant les profils les plus susceptibles de plaire aux utilisateurs.</a:t>
            </a:r>
          </a:p>
          <a:p>
            <a:endParaRPr lang="fr-FR" sz="1400" b="1" dirty="0"/>
          </a:p>
          <a:p>
            <a:r>
              <a:rPr lang="fr-FR" sz="1400" b="1" dirty="0"/>
              <a:t>Limites identifiées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Données insuffisantes</a:t>
            </a:r>
            <a:r>
              <a:rPr lang="fr-FR" sz="1400" dirty="0"/>
              <a:t> : </a:t>
            </a:r>
          </a:p>
          <a:p>
            <a:pPr lvl="1"/>
            <a:r>
              <a:rPr lang="fr-FR" sz="1400" b="1" dirty="0"/>
              <a:t>Volumétrie faible</a:t>
            </a:r>
            <a:r>
              <a:rPr lang="fr-FR" sz="1400" dirty="0"/>
              <a:t> (551 participants seulement).</a:t>
            </a:r>
          </a:p>
          <a:p>
            <a:pPr lvl="1"/>
            <a:r>
              <a:rPr lang="fr-FR" sz="1400" b="1" dirty="0"/>
              <a:t>Données obsolètes</a:t>
            </a:r>
            <a:r>
              <a:rPr lang="fr-FR" sz="1400" dirty="0"/>
              <a:t> : Non représentatives des dynamiques actuelles de l’application.</a:t>
            </a:r>
          </a:p>
          <a:p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Contexte inadapté</a:t>
            </a:r>
            <a:r>
              <a:rPr lang="fr-FR" sz="1400" dirty="0"/>
              <a:t> : </a:t>
            </a:r>
          </a:p>
          <a:p>
            <a:pPr lvl="1"/>
            <a:r>
              <a:rPr lang="fr-FR" sz="1400" dirty="0"/>
              <a:t>Les speed-datings impliquent des </a:t>
            </a:r>
            <a:r>
              <a:rPr lang="fr-FR" sz="1400" b="1" dirty="0"/>
              <a:t>rencontres physiques</a:t>
            </a:r>
            <a:r>
              <a:rPr lang="fr-FR" sz="1400" dirty="0"/>
              <a:t>, ce qui introduit des critères inconscients (ex: chimie, langage non verbal) </a:t>
            </a:r>
            <a:r>
              <a:rPr lang="fr-FR" sz="1400" b="1" dirty="0"/>
              <a:t>non reproductibles</a:t>
            </a:r>
            <a:r>
              <a:rPr lang="fr-FR" sz="1400" dirty="0"/>
              <a:t> dans un environnement digital comme Tinder.</a:t>
            </a:r>
          </a:p>
          <a:p>
            <a:endParaRPr lang="fr-F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Incohérences dans les données</a:t>
            </a:r>
            <a:r>
              <a:rPr lang="fr-FR" sz="1400" dirty="0"/>
              <a:t> : </a:t>
            </a:r>
          </a:p>
          <a:p>
            <a:pPr lvl="1"/>
            <a:r>
              <a:rPr lang="fr-FR" sz="1400" dirty="0"/>
              <a:t>Certains participants ont eu un rendez-vous </a:t>
            </a:r>
            <a:r>
              <a:rPr lang="fr-FR" sz="1400" b="1" dirty="0"/>
              <a:t>sans match préalable</a:t>
            </a:r>
            <a:r>
              <a:rPr lang="fr-FR" sz="1400" dirty="0"/>
              <a:t>, ce qui remet en question la fiabilité des données.</a:t>
            </a:r>
          </a:p>
          <a:p>
            <a:endParaRPr lang="fr-FR" sz="1400" b="1" dirty="0"/>
          </a:p>
          <a:p>
            <a:r>
              <a:rPr lang="fr-FR" sz="1400" b="1" dirty="0"/>
              <a:t>→ Recommandations pour Tinder</a:t>
            </a:r>
            <a:endParaRPr lang="fr-FR" sz="1400" dirty="0"/>
          </a:p>
          <a:p>
            <a:r>
              <a:rPr lang="fr-FR" sz="1400" b="1" dirty="0"/>
              <a:t>Utiliser des données plus récentes</a:t>
            </a:r>
            <a:r>
              <a:rPr lang="fr-FR" sz="1400" dirty="0"/>
              <a:t> pour refléter les tendances actuelles.</a:t>
            </a:r>
          </a:p>
          <a:p>
            <a:r>
              <a:rPr lang="fr-FR" sz="1400" b="1" dirty="0"/>
              <a:t>Augmenter la volumétrie des participants</a:t>
            </a:r>
            <a:r>
              <a:rPr lang="fr-FR" sz="1400" dirty="0"/>
              <a:t> pour obtenir des résultats statistiquement significatifs.</a:t>
            </a:r>
          </a:p>
          <a:p>
            <a:r>
              <a:rPr lang="fr-FR" sz="1400" b="1" dirty="0"/>
              <a:t>Reproduire les conditions réelles d’utilisation de l’application</a:t>
            </a:r>
            <a:r>
              <a:rPr lang="fr-FR" sz="1400" dirty="0"/>
              <a:t> (ex: études basées sur des interactions digitales plutôt que des rencontres physiques).</a:t>
            </a:r>
          </a:p>
          <a:p>
            <a:r>
              <a:rPr lang="fr-FR" sz="1400" b="1" dirty="0"/>
              <a:t>Mener des enquêtes qualitatives</a:t>
            </a:r>
            <a:r>
              <a:rPr lang="fr-FR" sz="1400" dirty="0"/>
              <a:t> auprès des utilisateurs pour identifier : </a:t>
            </a:r>
          </a:p>
          <a:p>
            <a:pPr lvl="1"/>
            <a:r>
              <a:rPr lang="fr-FR" sz="1400" dirty="0"/>
              <a:t>Les critères recherchés chez un partenaire.</a:t>
            </a:r>
          </a:p>
          <a:p>
            <a:pPr lvl="1"/>
            <a:r>
              <a:rPr lang="fr-FR" sz="1400" dirty="0"/>
              <a:t>Les éléments rédhibitoires qui empêchent une rencontre après un match.</a:t>
            </a:r>
          </a:p>
        </p:txBody>
      </p:sp>
    </p:spTree>
    <p:extLst>
      <p:ext uri="{BB962C8B-B14F-4D97-AF65-F5344CB8AC3E}">
        <p14:creationId xmlns:p14="http://schemas.microsoft.com/office/powerpoint/2010/main" val="1961289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10B8-7227-D91A-856C-1C61EDA4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3219AF-2EF4-135A-7B3A-711847166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1448" y="1674155"/>
            <a:ext cx="9144000" cy="2387600"/>
          </a:xfrm>
        </p:spPr>
        <p:txBody>
          <a:bodyPr>
            <a:normAutofit/>
          </a:bodyPr>
          <a:lstStyle/>
          <a:p>
            <a:r>
              <a:rPr lang="fr-FR" b="1" dirty="0"/>
              <a:t>Merci pour votre attention</a:t>
            </a:r>
            <a:endParaRPr lang="fr-FR" dirty="0"/>
          </a:p>
        </p:txBody>
      </p:sp>
      <p:pic>
        <p:nvPicPr>
          <p:cNvPr id="5" name="Image 4" descr="Une image contenant logo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AA81B2F8-EBE4-332B-02A7-3CCA5E76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9022" y="42040"/>
            <a:ext cx="2214137" cy="1153357"/>
          </a:xfrm>
          <a:prstGeom prst="rect">
            <a:avLst/>
          </a:prstGeom>
        </p:spPr>
      </p:pic>
      <p:pic>
        <p:nvPicPr>
          <p:cNvPr id="9" name="Image 8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8AA25077-A440-41A4-28CC-B446557F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336"/>
            <a:ext cx="2228866" cy="847731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A482529-319B-3743-5C02-D20FE8F6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7C0E-B5E2-46F8-8369-32F2BC9FE565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5804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Microsoft Office PowerPoint</Application>
  <PresentationFormat>Grand écran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Analyse exploratoire, descriptive et inférentielle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LUCCHINI</dc:creator>
  <cp:lastModifiedBy>Laura LUCCHINI</cp:lastModifiedBy>
  <cp:revision>14</cp:revision>
  <dcterms:created xsi:type="dcterms:W3CDTF">2025-11-11T11:27:30Z</dcterms:created>
  <dcterms:modified xsi:type="dcterms:W3CDTF">2026-01-04T16:38:13Z</dcterms:modified>
</cp:coreProperties>
</file>