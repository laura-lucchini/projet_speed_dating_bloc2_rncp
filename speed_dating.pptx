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61" r:id="rId3"/>
    <p:sldId id="257" r:id="rId4"/>
    <p:sldId id="260" r:id="rId5"/>
    <p:sldId id="259" r:id="rId6"/>
    <p:sldId id="258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D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89" d="100"/>
          <a:sy n="89" d="100"/>
        </p:scale>
        <p:origin x="18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E93D47-2100-4520-A674-42720C878824}" type="datetimeFigureOut">
              <a:rPr lang="fr-FR" smtClean="0"/>
              <a:t>02/01/2026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299353-1A70-4213-94A9-C6537E13B48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7129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E2B62F-086F-1790-14D1-CD6F57AEFF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3276F59-9730-4A16-6C15-D1CA610BAD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EADE52-BA17-66F6-C4DC-CE641F148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0D2F3-07B2-4556-8EEA-239F868A8816}" type="datetime1">
              <a:rPr lang="fr-FR" smtClean="0"/>
              <a:t>02/01/2026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D6B28B3-7E93-276C-C28C-DE06DA791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3484EA1-9A53-37FE-258C-8B447EB6E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58827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2672E9-46F4-7A63-10A7-DCE54B875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CFADE48-3829-E4F5-E66B-C396BDEBA6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CF1B28F-CD5E-22E1-3476-4DD8EACDBF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ED75C-5995-486D-AEC2-3458EE0A8C85}" type="datetime1">
              <a:rPr lang="fr-FR" smtClean="0"/>
              <a:t>02/01/2026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CA7474C-D2D5-3ED8-61E0-BB337F504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C114CB1-15BA-5DDD-4718-F4C533ACA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33390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5AA2F0-6A73-ABF0-2229-3400F90565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DAD919D-F459-3B78-25FA-5333F79410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0D87B6D-4F39-1838-2A46-775861DBD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F812E0-011E-482D-9770-26F1A780EAD8}" type="datetime1">
              <a:rPr lang="fr-FR" smtClean="0"/>
              <a:t>02/01/2026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6B59432-326B-BE9F-1FD7-F5B5F37FA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1AE15A9-F523-17B3-1CA4-9C7A722F5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3887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536C71-9738-E594-90D4-E9F9F9A22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FF8608-9581-240A-945D-CAAB4E56BC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FB85B04-CB29-CBD3-C780-CD178C3D3C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2B108F0-99B1-801E-4DD8-4CBF02670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3FC8A-FDB1-4451-9329-43DBB912A256}" type="datetime1">
              <a:rPr lang="fr-FR" smtClean="0"/>
              <a:t>02/01/2026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5571773-CB12-002C-D054-BE8F324DD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5A0C5CC-09E9-E0B6-6650-501A0E805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51613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CC0399-4A94-9729-82CE-4309B3D45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9EFF367-84AB-F850-94AD-5B1F33DBF4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F603297-4F60-28C8-2C3D-30ECC77C75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5673919-2B31-D0CD-B94C-BCDD1239FB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62F451B-FB25-DD3C-4453-59D7769C8B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C97AA41-2979-4752-474F-486E075C4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938DB-53C5-499F-9E77-C4A6BFB6D7B0}" type="datetime1">
              <a:rPr lang="fr-FR" smtClean="0"/>
              <a:t>02/01/2026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4444646-08FC-AE86-4F1C-58FF4E28B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F1399DD-122F-D20B-90E0-E75BF22AA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48752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8F6190-4419-1C36-F7C0-DDD46184D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FF3E433-46FF-2B77-4103-10D849976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4754B-8D12-4F7B-B7B2-BE9501C2BF0C}" type="datetime1">
              <a:rPr lang="fr-FR" smtClean="0"/>
              <a:t>02/01/2026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20F3C74-FFBF-8B91-526A-D9075B8A1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16FB987-5915-F832-77C5-F1067E28B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21650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0C743F8-26B6-3B81-5054-37E4ED6B9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601FE-0B10-4357-8A94-ED43ECC61E73}" type="datetime1">
              <a:rPr lang="fr-FR" smtClean="0"/>
              <a:t>02/01/2026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EA691426-C0CA-FDCA-9A4F-068CF344C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C8B6588-2937-CEA0-93D7-01827351D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27241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FD1D813-4EB4-80D5-D564-C8D48B45F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7FB737-4287-92B2-2648-A76F3F47B9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E87EFC2-3EC6-F6FF-18FE-2FC431498A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2FEE924-30CD-B96F-75C6-8CD8C5C5F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5B53D-237A-4F39-87AD-DBFD4AA32F74}" type="datetime1">
              <a:rPr lang="fr-FR" smtClean="0"/>
              <a:t>02/01/2026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00B6806-AAE0-E74A-E2AB-F6E5E35C8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BF6025-BEE8-BF44-24C0-754356196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2918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1E2D63B-D4DA-333E-9287-A3785143A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C95F387-3E62-1B3A-0104-44C528D1CF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BFEF34B-FDB8-A79A-BA31-1677DFBF39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F523D29-FF30-9C0F-D86F-AA27B9860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A35C9-E3D3-49A9-95FC-FD5ECA9EB791}" type="datetime1">
              <a:rPr lang="fr-FR" smtClean="0"/>
              <a:t>02/01/2026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42DC8D0-87DC-EE38-04D7-4B018E5BD0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380D052-9C34-13CB-3D41-F582BAC02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3925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FB9273-E8AD-31F0-15BC-25E9A79E8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9754C0C-E2B5-91EC-4487-3809B104D6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5AAE2FE-E580-E047-BB34-67D2CC0FC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20883-C1CF-45DB-8E21-27E9BFE30BA5}" type="datetime1">
              <a:rPr lang="fr-FR" smtClean="0"/>
              <a:t>02/01/2026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9E2B1F8-5846-0E0F-11F8-51CF35DCE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EFE63DF-D98F-F0EE-9C2E-AD013E8AB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89783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DF8F8CEF-71C8-4D4C-C723-E70C9C569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CE3D606-EF79-75CB-EC20-854B4CD2EF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B6A92A1-88A7-B6F2-5F04-C993EDC88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CD79BF-A261-454E-886D-ACA8EFF7026B}" type="datetime1">
              <a:rPr lang="fr-FR" smtClean="0"/>
              <a:t>02/01/2026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436B4B6-4C4D-7A27-E806-0E20BBA1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214CCB-B3F2-7AA0-F82C-0A5DA579D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50493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423D30-0A35-4D62-DD9B-A8DB70E5F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B050BF8-FB35-A20F-E135-0C08CE99E6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2041974-634E-1CD1-9836-CA24D81A99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C75ECC-67CD-476B-B935-1BA4B425F864}" type="datetime1">
              <a:rPr lang="fr-FR" smtClean="0"/>
              <a:t>02/01/2026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904DD31-FF6A-90C3-37FF-75D841710A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5DA470C-D226-2B4F-1193-17F4AC1626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D7C0E-B5E2-46F8-8369-32F2BC9FE5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860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115328-F924-A35B-49F0-FE609C0838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fr-FR" b="1" dirty="0"/>
              <a:t>Analyse exploratoire, descriptive et inférentielle de données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20E22F6-8F19-FA47-F225-002EC2109A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fr-FR" dirty="0"/>
              <a:t>Bloc 2 du diplôme d'état - RNCP35288 - Niveau 6 (équivalent BAC+4)</a:t>
            </a:r>
          </a:p>
        </p:txBody>
      </p:sp>
      <p:pic>
        <p:nvPicPr>
          <p:cNvPr id="5" name="Image 4" descr="Une image contenant logo, Graphique, Police, graphisme&#10;&#10;Le contenu généré par l’IA peut être incorrect.">
            <a:extLst>
              <a:ext uri="{FF2B5EF4-FFF2-40B4-BE49-F238E27FC236}">
                <a16:creationId xmlns:a16="http://schemas.microsoft.com/office/drawing/2014/main" id="{A3FC900D-ED36-0720-40DD-A88D6CCCD4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9022" y="42040"/>
            <a:ext cx="2214137" cy="1153357"/>
          </a:xfrm>
          <a:prstGeom prst="rect">
            <a:avLst/>
          </a:prstGeom>
        </p:spPr>
      </p:pic>
      <p:pic>
        <p:nvPicPr>
          <p:cNvPr id="9" name="Image 8" descr="Une image contenant Police, Graphique, logo, symbole&#10;&#10;Le contenu généré par l’IA peut être incorrect.">
            <a:extLst>
              <a:ext uri="{FF2B5EF4-FFF2-40B4-BE49-F238E27FC236}">
                <a16:creationId xmlns:a16="http://schemas.microsoft.com/office/drawing/2014/main" id="{20AE4B64-3113-4F98-C858-FC478D7B5E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8336"/>
            <a:ext cx="2228866" cy="847731"/>
          </a:xfrm>
          <a:prstGeom prst="rect">
            <a:avLst/>
          </a:prstGeom>
        </p:spPr>
      </p:pic>
      <p:sp>
        <p:nvSpPr>
          <p:cNvPr id="10" name="Sous-titre 2">
            <a:extLst>
              <a:ext uri="{FF2B5EF4-FFF2-40B4-BE49-F238E27FC236}">
                <a16:creationId xmlns:a16="http://schemas.microsoft.com/office/drawing/2014/main" id="{FA83D2CC-4624-1B29-144A-6AE224D37A4A}"/>
              </a:ext>
            </a:extLst>
          </p:cNvPr>
          <p:cNvSpPr txBox="1">
            <a:spLocks/>
          </p:cNvSpPr>
          <p:nvPr/>
        </p:nvSpPr>
        <p:spPr>
          <a:xfrm>
            <a:off x="604346" y="5984463"/>
            <a:ext cx="2732689" cy="6421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dirty="0"/>
              <a:t>Laura LUCCHINI</a:t>
            </a: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99F30600-3CE9-588F-002D-5B855DDBF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44471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1E17B-9F67-634B-F741-C6D681B9C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5B377ED-E658-32ED-5173-479F28D1AB85}"/>
              </a:ext>
            </a:extLst>
          </p:cNvPr>
          <p:cNvSpPr/>
          <p:nvPr/>
        </p:nvSpPr>
        <p:spPr>
          <a:xfrm>
            <a:off x="0" y="0"/>
            <a:ext cx="1707931" cy="6858000"/>
          </a:xfrm>
          <a:prstGeom prst="rect">
            <a:avLst/>
          </a:prstGeom>
          <a:solidFill>
            <a:srgbClr val="F3D6D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284FFD61-311D-40F9-5C7E-94083BAB1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2</a:t>
            </a:fld>
            <a:endParaRPr lang="fr-FR"/>
          </a:p>
        </p:txBody>
      </p:sp>
      <p:pic>
        <p:nvPicPr>
          <p:cNvPr id="4" name="Image 3" descr="Une image contenant logo, Graphique, Police, graphisme&#10;&#10;Le contenu généré par l’IA peut être incorrect.">
            <a:extLst>
              <a:ext uri="{FF2B5EF4-FFF2-40B4-BE49-F238E27FC236}">
                <a16:creationId xmlns:a16="http://schemas.microsoft.com/office/drawing/2014/main" id="{122AF226-EB63-09E2-613B-465F9A6B2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0544" y="42040"/>
            <a:ext cx="2622616" cy="1366136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DDB3DA64-6030-0707-E767-A6C00DC896EF}"/>
              </a:ext>
            </a:extLst>
          </p:cNvPr>
          <p:cNvSpPr txBox="1"/>
          <p:nvPr/>
        </p:nvSpPr>
        <p:spPr>
          <a:xfrm>
            <a:off x="2862072" y="1655064"/>
            <a:ext cx="7719780" cy="3699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b="0" dirty="0">
                <a:effectLst/>
              </a:rPr>
              <a:t>Speed Dating Data </a:t>
            </a:r>
            <a:r>
              <a:rPr lang="fr-FR" b="0" dirty="0" err="1">
                <a:effectLst/>
              </a:rPr>
              <a:t>Analysis</a:t>
            </a:r>
            <a:endParaRPr lang="fr-FR" b="0" dirty="0">
              <a:effectLst/>
            </a:endParaRPr>
          </a:p>
          <a:p>
            <a:pPr>
              <a:lnSpc>
                <a:spcPts val="1425"/>
              </a:lnSpc>
              <a:buNone/>
            </a:pPr>
            <a:br>
              <a:rPr lang="fr-FR" b="0" dirty="0">
                <a:effectLst/>
              </a:rPr>
            </a:br>
            <a:endParaRPr lang="fr-FR" b="0" dirty="0">
              <a:effectLst/>
            </a:endParaRPr>
          </a:p>
          <a:p>
            <a:pPr>
              <a:lnSpc>
                <a:spcPts val="1425"/>
              </a:lnSpc>
              <a:buNone/>
            </a:pPr>
            <a:r>
              <a:rPr lang="fr-FR" b="1" dirty="0">
                <a:effectLst/>
              </a:rPr>
              <a:t>Clien</a:t>
            </a:r>
            <a:r>
              <a:rPr lang="fr-FR" b="1" dirty="0"/>
              <a:t>t</a:t>
            </a:r>
            <a:r>
              <a:rPr lang="fr-FR" b="0" dirty="0">
                <a:effectLst/>
              </a:rPr>
              <a:t> : Tinder  </a:t>
            </a:r>
          </a:p>
          <a:p>
            <a:pPr>
              <a:lnSpc>
                <a:spcPts val="1425"/>
              </a:lnSpc>
              <a:buNone/>
            </a:pPr>
            <a:r>
              <a:rPr lang="fr-FR" b="1" dirty="0">
                <a:effectLst/>
              </a:rPr>
              <a:t>Dates concernées</a:t>
            </a:r>
            <a:r>
              <a:rPr lang="fr-FR" b="0" dirty="0">
                <a:effectLst/>
              </a:rPr>
              <a:t> : 2002 - 2004  </a:t>
            </a:r>
          </a:p>
          <a:p>
            <a:pPr>
              <a:lnSpc>
                <a:spcPts val="1425"/>
              </a:lnSpc>
              <a:buNone/>
            </a:pPr>
            <a:r>
              <a:rPr lang="fr-FR" b="1" dirty="0">
                <a:effectLst/>
              </a:rPr>
              <a:t>Nombre d'évènements</a:t>
            </a:r>
            <a:r>
              <a:rPr lang="fr-FR" b="0" dirty="0">
                <a:effectLst/>
              </a:rPr>
              <a:t> : 21 vagues aboutissant à 8378 rencontres  </a:t>
            </a:r>
          </a:p>
          <a:p>
            <a:pPr>
              <a:lnSpc>
                <a:spcPts val="1425"/>
              </a:lnSpc>
              <a:buNone/>
            </a:pPr>
            <a:r>
              <a:rPr lang="fr-FR" b="1" dirty="0">
                <a:effectLst/>
              </a:rPr>
              <a:t>Nombre de participants</a:t>
            </a:r>
            <a:r>
              <a:rPr lang="fr-FR" b="0" dirty="0">
                <a:effectLst/>
              </a:rPr>
              <a:t> : 551 participants  </a:t>
            </a:r>
          </a:p>
          <a:p>
            <a:pPr>
              <a:lnSpc>
                <a:spcPts val="1425"/>
              </a:lnSpc>
              <a:buNone/>
            </a:pPr>
            <a:br>
              <a:rPr lang="fr-FR" b="0" dirty="0">
                <a:effectLst/>
              </a:rPr>
            </a:br>
            <a:endParaRPr lang="fr-FR" b="0" dirty="0">
              <a:effectLst/>
            </a:endParaRPr>
          </a:p>
          <a:p>
            <a:pPr>
              <a:lnSpc>
                <a:spcPts val="1425"/>
              </a:lnSpc>
              <a:buNone/>
            </a:pPr>
            <a:r>
              <a:rPr lang="fr-FR" b="1" dirty="0">
                <a:effectLst/>
              </a:rPr>
              <a:t>Problématique</a:t>
            </a:r>
            <a:r>
              <a:rPr lang="fr-FR" b="0" dirty="0">
                <a:effectLst/>
              </a:rPr>
              <a:t> : Depuis le lancement de l'application de rencontres en 2012, Tinder fait face à une diminution du nombre de matchs et tentent de trouver un moyen de comprendre ce qui fait que les gens s'intéressent les uns aux autres. </a:t>
            </a:r>
          </a:p>
          <a:p>
            <a:pPr>
              <a:lnSpc>
                <a:spcPts val="1425"/>
              </a:lnSpc>
              <a:buNone/>
            </a:pPr>
            <a:br>
              <a:rPr lang="fr-FR" b="0" dirty="0">
                <a:effectLst/>
              </a:rPr>
            </a:br>
            <a:endParaRPr lang="fr-FR" b="0" dirty="0">
              <a:effectLst/>
            </a:endParaRPr>
          </a:p>
          <a:p>
            <a:pPr>
              <a:lnSpc>
                <a:spcPts val="1425"/>
              </a:lnSpc>
              <a:buNone/>
            </a:pPr>
            <a:r>
              <a:rPr lang="fr-FR" b="1" dirty="0">
                <a:effectLst/>
              </a:rPr>
              <a:t>Objectif</a:t>
            </a:r>
            <a:r>
              <a:rPr lang="fr-FR" b="0" dirty="0">
                <a:effectLst/>
              </a:rPr>
              <a:t> : A partir de l'analyse des données récoltées dans le cadre de speed-datings physiques et dans le but de concevoir un algorithme affiné correspondant à l'utilisateur, Identifier les facteurs qui influencent la décision d'un premier rendez-vous après le speed-dating </a:t>
            </a:r>
          </a:p>
          <a:p>
            <a:pPr>
              <a:lnSpc>
                <a:spcPts val="1425"/>
              </a:lnSpc>
              <a:buNone/>
            </a:pPr>
            <a:br>
              <a:rPr lang="fr-FR" b="0" dirty="0">
                <a:effectLst/>
              </a:rPr>
            </a:br>
            <a:endParaRPr lang="fr-FR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65400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7252730-16CE-4AF2-CAF2-27AA000AFF7A}"/>
              </a:ext>
            </a:extLst>
          </p:cNvPr>
          <p:cNvSpPr/>
          <p:nvPr/>
        </p:nvSpPr>
        <p:spPr>
          <a:xfrm>
            <a:off x="0" y="0"/>
            <a:ext cx="1707931" cy="6858000"/>
          </a:xfrm>
          <a:prstGeom prst="rect">
            <a:avLst/>
          </a:prstGeom>
          <a:solidFill>
            <a:srgbClr val="F3D6D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937E93C-BEBC-6A24-6804-38B4FA085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3</a:t>
            </a:fld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5B9285D-B843-132F-481B-FEF7E950F6D8}"/>
              </a:ext>
            </a:extLst>
          </p:cNvPr>
          <p:cNvSpPr txBox="1"/>
          <p:nvPr/>
        </p:nvSpPr>
        <p:spPr>
          <a:xfrm>
            <a:off x="1697736" y="76791"/>
            <a:ext cx="8796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Visualisations descriptives: par sexe, par âge et par emploi</a:t>
            </a:r>
            <a:endParaRPr lang="fr-FR" dirty="0"/>
          </a:p>
        </p:txBody>
      </p:sp>
      <p:pic>
        <p:nvPicPr>
          <p:cNvPr id="11" name="Image 10" descr="Une image contenant texte, diagramm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1331EAD7-02C7-0E07-1DEA-F94BE5C9E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5826" y="3006349"/>
            <a:ext cx="4224528" cy="3350001"/>
          </a:xfrm>
          <a:prstGeom prst="rect">
            <a:avLst/>
          </a:prstGeom>
        </p:spPr>
      </p:pic>
      <p:pic>
        <p:nvPicPr>
          <p:cNvPr id="15" name="Image 14" descr="Une image contenant texte, capture d’écran, logiciel, nombre&#10;&#10;Le contenu généré par l’IA peut être incorrect.">
            <a:extLst>
              <a:ext uri="{FF2B5EF4-FFF2-40B4-BE49-F238E27FC236}">
                <a16:creationId xmlns:a16="http://schemas.microsoft.com/office/drawing/2014/main" id="{D8C04F29-22E8-DEBC-D79D-00A4C0845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35" y="373634"/>
            <a:ext cx="7647275" cy="4590510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3253C3D4-AC96-1139-5A15-C6A90402858E}"/>
              </a:ext>
            </a:extLst>
          </p:cNvPr>
          <p:cNvSpPr txBox="1"/>
          <p:nvPr/>
        </p:nvSpPr>
        <p:spPr>
          <a:xfrm>
            <a:off x="854727" y="5026883"/>
            <a:ext cx="720289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551 participants.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parité Hommes / Femmes respectée.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âges des participants dans la même tranche (moins de 30 ans) mis à part 3 exceptions chez les hommes et 3 chez les femmes (non significatifs)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métiers principalement dans le domaine tertiaire ce qui est probablement lié à la localisation des speed </a:t>
            </a:r>
            <a:r>
              <a:rPr lang="fr-FR" dirty="0" err="1"/>
              <a:t>datings</a:t>
            </a:r>
            <a:endParaRPr lang="fr-FR" dirty="0"/>
          </a:p>
        </p:txBody>
      </p:sp>
      <p:pic>
        <p:nvPicPr>
          <p:cNvPr id="4" name="Image 3" descr="Une image contenant texte, capture d’écran, cercle, diagramme&#10;&#10;Le contenu généré par l’IA peut être incorrect.">
            <a:extLst>
              <a:ext uri="{FF2B5EF4-FFF2-40B4-BE49-F238E27FC236}">
                <a16:creationId xmlns:a16="http://schemas.microsoft.com/office/drawing/2014/main" id="{2A259F2F-5409-B187-8307-9C6F35AF70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6916" y="0"/>
            <a:ext cx="3036506" cy="3035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175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64E04-EF09-37AC-7F93-3F56B1CEB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73BF131-EABB-3FD0-CF0D-E34C89198A6D}"/>
              </a:ext>
            </a:extLst>
          </p:cNvPr>
          <p:cNvSpPr/>
          <p:nvPr/>
        </p:nvSpPr>
        <p:spPr>
          <a:xfrm>
            <a:off x="0" y="0"/>
            <a:ext cx="1707931" cy="6858000"/>
          </a:xfrm>
          <a:prstGeom prst="rect">
            <a:avLst/>
          </a:prstGeom>
          <a:solidFill>
            <a:srgbClr val="F3D6D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9AB8562B-D34A-45CB-808A-A57823383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4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F0AAF65-5681-6ADA-05DE-4B6B2D4AAA9F}"/>
              </a:ext>
            </a:extLst>
          </p:cNvPr>
          <p:cNvSpPr txBox="1"/>
          <p:nvPr/>
        </p:nvSpPr>
        <p:spPr>
          <a:xfrm>
            <a:off x="1828800" y="274320"/>
            <a:ext cx="9525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Axe d'analyse n°1: est ce que la notation des attributs chez le partenaire évolue au fil du temps?</a:t>
            </a:r>
            <a:endParaRPr lang="fr-FR" dirty="0"/>
          </a:p>
          <a:p>
            <a:endParaRPr lang="fr-FR" dirty="0"/>
          </a:p>
        </p:txBody>
      </p:sp>
      <p:pic>
        <p:nvPicPr>
          <p:cNvPr id="6" name="Image 5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5A736821-2ECF-797D-32AC-AEB041C64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8464" y="684882"/>
            <a:ext cx="8805672" cy="6036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566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3F33E-5C1A-DAA7-15C0-5EDE3D4E7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9F7FD9-0AEB-588F-9F70-7650048BD40C}"/>
              </a:ext>
            </a:extLst>
          </p:cNvPr>
          <p:cNvSpPr/>
          <p:nvPr/>
        </p:nvSpPr>
        <p:spPr>
          <a:xfrm>
            <a:off x="0" y="0"/>
            <a:ext cx="1707931" cy="6858000"/>
          </a:xfrm>
          <a:prstGeom prst="rect">
            <a:avLst/>
          </a:prstGeom>
          <a:solidFill>
            <a:srgbClr val="F3D6D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7B17FCD6-E5BE-1BA5-6C73-EB9B0EA7C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5</a:t>
            </a:fld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9DFA881-75E3-D7B7-9EF1-98AE3D218A0C}"/>
              </a:ext>
            </a:extLst>
          </p:cNvPr>
          <p:cNvSpPr txBox="1"/>
          <p:nvPr/>
        </p:nvSpPr>
        <p:spPr>
          <a:xfrm>
            <a:off x="1954924" y="405348"/>
            <a:ext cx="10300138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dirty="0"/>
              <a:t>Analyse des critères d’attractivité dans le temps</a:t>
            </a:r>
          </a:p>
          <a:p>
            <a:pPr>
              <a:buNone/>
            </a:pPr>
            <a:endParaRPr lang="fr-FR" b="1" dirty="0"/>
          </a:p>
          <a:p>
            <a:pPr>
              <a:buNone/>
            </a:pPr>
            <a:r>
              <a:rPr lang="fr-FR" b="1" dirty="0"/>
              <a:t>Les notations des participants mettent en évidence des dynamiques différenciées selon le genre :</a:t>
            </a:r>
            <a:endParaRPr lang="fr-FR" dirty="0"/>
          </a:p>
          <a:p>
            <a:pPr>
              <a:buNone/>
            </a:pPr>
            <a:endParaRPr lang="fr-FR" b="1" dirty="0"/>
          </a:p>
          <a:p>
            <a:pPr>
              <a:buNone/>
            </a:pPr>
            <a:r>
              <a:rPr lang="fr-FR" b="1" dirty="0"/>
              <a:t>Chez les hommes</a:t>
            </a:r>
            <a:endParaRPr lang="fr-FR" dirty="0"/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L’</a:t>
            </a:r>
            <a:r>
              <a:rPr lang="fr-FR" b="1" dirty="0"/>
              <a:t>attractivité physique</a:t>
            </a:r>
            <a:r>
              <a:rPr lang="fr-FR" dirty="0"/>
              <a:t> demeure le critère dominant à tous les moments de mesure.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Le lendemain de l’événement, le critère </a:t>
            </a:r>
            <a:r>
              <a:rPr lang="fr-FR" b="1" dirty="0"/>
              <a:t>« drôle »</a:t>
            </a:r>
            <a:r>
              <a:rPr lang="fr-FR" dirty="0"/>
              <a:t> progresse et devance l’</a:t>
            </a:r>
            <a:r>
              <a:rPr lang="fr-FR" b="1" dirty="0"/>
              <a:t>intelligence</a:t>
            </a:r>
            <a:r>
              <a:rPr lang="fr-FR" dirty="0"/>
              <a:t>, habituellement citée comme deuxième qualité recherchée.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Les écarts entre le critère principal et les autres attributs sont </a:t>
            </a:r>
            <a:r>
              <a:rPr lang="fr-FR" b="1" dirty="0"/>
              <a:t>nettement marqués</a:t>
            </a:r>
            <a:r>
              <a:rPr lang="fr-FR" dirty="0"/>
              <a:t>, traduisant une hiérarchie claire des préférences.</a:t>
            </a:r>
          </a:p>
          <a:p>
            <a:pPr>
              <a:buNone/>
            </a:pPr>
            <a:endParaRPr lang="fr-FR" b="1" dirty="0"/>
          </a:p>
          <a:p>
            <a:pPr>
              <a:buNone/>
            </a:pPr>
            <a:r>
              <a:rPr lang="fr-FR" b="1" dirty="0"/>
              <a:t>Chez les femmes</a:t>
            </a:r>
            <a:endParaRPr lang="fr-FR" dirty="0"/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Avant le speed dating, l’</a:t>
            </a:r>
            <a:r>
              <a:rPr lang="fr-FR" b="1" dirty="0"/>
              <a:t>intelligence</a:t>
            </a:r>
            <a:r>
              <a:rPr lang="fr-FR" dirty="0"/>
              <a:t> est déclarée comme le principal facteur d’attractivité.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À partir du speed dating, l’</a:t>
            </a:r>
            <a:r>
              <a:rPr lang="fr-FR" b="1" dirty="0"/>
              <a:t>attractivité physique</a:t>
            </a:r>
            <a:r>
              <a:rPr lang="fr-FR" dirty="0"/>
              <a:t> devient le critère n°1 et le reste dans le temps.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Les différences entre attributs sont </a:t>
            </a:r>
            <a:r>
              <a:rPr lang="fr-FR" b="1" dirty="0"/>
              <a:t>plus modérées</a:t>
            </a:r>
            <a:r>
              <a:rPr lang="fr-FR" dirty="0"/>
              <a:t> que chez les hommes, suggérant des préférences plus équilibrées.</a:t>
            </a:r>
          </a:p>
          <a:p>
            <a:pPr>
              <a:buNone/>
            </a:pPr>
            <a:br>
              <a:rPr lang="fr-FR" dirty="0"/>
            </a:br>
            <a:endParaRPr lang="fr-FR" dirty="0"/>
          </a:p>
          <a:p>
            <a:pPr>
              <a:buNone/>
            </a:pPr>
            <a:r>
              <a:rPr lang="fr-FR" b="1" dirty="0"/>
              <a:t>➜ À retenir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Le speed dating </a:t>
            </a:r>
            <a:r>
              <a:rPr lang="fr-FR" b="1" dirty="0"/>
              <a:t>ne modifie pas les préférences exprimées par les hommes</a:t>
            </a:r>
            <a:r>
              <a:rPr lang="fr-F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Il entraîne en revanche une </a:t>
            </a:r>
            <a:r>
              <a:rPr lang="fr-FR" b="1" dirty="0"/>
              <a:t>évolution plus marquée des critères déclarés par les femmes</a:t>
            </a:r>
            <a:r>
              <a:rPr lang="fr-FR" dirty="0"/>
              <a:t>, avec un recentrage sur l’attractivité physique après l’expérience.</a:t>
            </a:r>
          </a:p>
        </p:txBody>
      </p:sp>
    </p:spTree>
    <p:extLst>
      <p:ext uri="{BB962C8B-B14F-4D97-AF65-F5344CB8AC3E}">
        <p14:creationId xmlns:p14="http://schemas.microsoft.com/office/powerpoint/2010/main" val="2901154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E44D9-CBBA-5C5B-206B-C51F4D52F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D94ED33-0B97-8D17-034C-2B1C78E70C8A}"/>
              </a:ext>
            </a:extLst>
          </p:cNvPr>
          <p:cNvSpPr/>
          <p:nvPr/>
        </p:nvSpPr>
        <p:spPr>
          <a:xfrm>
            <a:off x="0" y="0"/>
            <a:ext cx="1707931" cy="6858000"/>
          </a:xfrm>
          <a:prstGeom prst="rect">
            <a:avLst/>
          </a:prstGeom>
          <a:solidFill>
            <a:srgbClr val="F3D6D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F5CC123-18EE-091A-97C4-AFD6E182E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6</a:t>
            </a:fld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2119FBF-979E-5D12-C3E6-E7420CC8E755}"/>
              </a:ext>
            </a:extLst>
          </p:cNvPr>
          <p:cNvSpPr txBox="1"/>
          <p:nvPr/>
        </p:nvSpPr>
        <p:spPr>
          <a:xfrm>
            <a:off x="216628" y="0"/>
            <a:ext cx="115273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Axe d'analyse n°2: est ce que la façon dont les participants s'auto évaluent a une incidence sur le fait d'avoir un match?</a:t>
            </a:r>
            <a:endParaRPr lang="fr-FR" dirty="0"/>
          </a:p>
          <a:p>
            <a:endParaRPr lang="fr-FR" dirty="0"/>
          </a:p>
        </p:txBody>
      </p:sp>
      <p:pic>
        <p:nvPicPr>
          <p:cNvPr id="8" name="Image 7" descr="Une image contenant texte, capture d’écran, diagramme, Caractère coloré&#10;&#10;Le contenu généré par l’IA peut être incorrect.">
            <a:extLst>
              <a:ext uri="{FF2B5EF4-FFF2-40B4-BE49-F238E27FC236}">
                <a16:creationId xmlns:a16="http://schemas.microsoft.com/office/drawing/2014/main" id="{AF24C3E6-92D7-A61D-8F54-4FC90CC67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9982" y="426713"/>
            <a:ext cx="8831742" cy="629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2087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0FE9F-CF09-B9C8-4DDF-C562A02E3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BB3775-1EDE-B4D9-92AC-169020A0DCAA}"/>
              </a:ext>
            </a:extLst>
          </p:cNvPr>
          <p:cNvSpPr/>
          <p:nvPr/>
        </p:nvSpPr>
        <p:spPr>
          <a:xfrm>
            <a:off x="0" y="0"/>
            <a:ext cx="1707931" cy="6858000"/>
          </a:xfrm>
          <a:prstGeom prst="rect">
            <a:avLst/>
          </a:prstGeom>
          <a:solidFill>
            <a:srgbClr val="F3D6D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D7EB82F-2202-D905-7D05-A5C01861A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7</a:t>
            </a:fld>
            <a:endParaRPr lang="fr-FR"/>
          </a:p>
        </p:txBody>
      </p:sp>
      <p:pic>
        <p:nvPicPr>
          <p:cNvPr id="5" name="Image 4" descr="Une image contenant texte, capture d’écran, carré, Rectangle&#10;&#10;Le contenu généré par l’IA peut être incorrect.">
            <a:extLst>
              <a:ext uri="{FF2B5EF4-FFF2-40B4-BE49-F238E27FC236}">
                <a16:creationId xmlns:a16="http://schemas.microsoft.com/office/drawing/2014/main" id="{219B8340-768F-665E-1664-78CC47BB2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274" y="0"/>
            <a:ext cx="4741401" cy="4248379"/>
          </a:xfrm>
          <a:prstGeom prst="rect">
            <a:avLst/>
          </a:prstGeom>
        </p:spPr>
      </p:pic>
      <p:pic>
        <p:nvPicPr>
          <p:cNvPr id="9" name="Image 8" descr="Une image contenant texte, capture d’écran, carré, Rectangle&#10;&#10;Le contenu généré par l’IA peut être incorrect.">
            <a:extLst>
              <a:ext uri="{FF2B5EF4-FFF2-40B4-BE49-F238E27FC236}">
                <a16:creationId xmlns:a16="http://schemas.microsoft.com/office/drawing/2014/main" id="{657CD3D2-0316-6ADB-2B51-B5EE72D4B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8064" y="0"/>
            <a:ext cx="4741401" cy="4248379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DFB99B4A-9073-C882-7918-AFBED87CAE58}"/>
              </a:ext>
            </a:extLst>
          </p:cNvPr>
          <p:cNvSpPr txBox="1"/>
          <p:nvPr/>
        </p:nvSpPr>
        <p:spPr>
          <a:xfrm>
            <a:off x="2118360" y="4255995"/>
            <a:ext cx="1185062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1" dirty="0"/>
              <a:t>Impact de l’auto-évaluation sur l’obtention d’un match</a:t>
            </a:r>
          </a:p>
          <a:p>
            <a:pPr>
              <a:buNone/>
            </a:pPr>
            <a:r>
              <a:rPr lang="fr-FR" sz="1400" b="1" dirty="0"/>
              <a:t>L’analyse montre que l’auto-évaluation des participants évolue peu selon qu’ils obtiennent un match ou non.</a:t>
            </a:r>
            <a:endParaRPr lang="fr-FR" sz="1400" dirty="0"/>
          </a:p>
          <a:p>
            <a:pPr>
              <a:buNone/>
            </a:pPr>
            <a:r>
              <a:rPr lang="fr-FR" sz="1400" b="1" dirty="0"/>
              <a:t>Chez les hommes</a:t>
            </a:r>
            <a:endParaRPr lang="fr-FR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L’auto-évaluation après le speed dating est </a:t>
            </a:r>
            <a:r>
              <a:rPr lang="fr-FR" sz="1400" b="1" dirty="0"/>
              <a:t>légèrement inférieure</a:t>
            </a:r>
            <a:r>
              <a:rPr lang="fr-FR" sz="1400" dirty="0"/>
              <a:t> à celle mesurée avant l’événement</a:t>
            </a:r>
            <a:br>
              <a:rPr lang="fr-FR" sz="1400" dirty="0"/>
            </a:br>
            <a:r>
              <a:rPr lang="fr-FR" sz="1400" i="1" dirty="0"/>
              <a:t>(–0,06 point sur l’attribut principal, indépendamment de l’obtention d’un match)</a:t>
            </a:r>
            <a:r>
              <a:rPr lang="fr-FR" sz="1400" dirty="0"/>
              <a:t>.</a:t>
            </a:r>
          </a:p>
          <a:p>
            <a:pPr>
              <a:buNone/>
            </a:pPr>
            <a:r>
              <a:rPr lang="fr-FR" sz="1400" b="1" dirty="0"/>
              <a:t>Chez les femmes</a:t>
            </a:r>
            <a:endParaRPr lang="fr-FR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En cas de match, l’auto-évaluation du meilleur attribut </a:t>
            </a:r>
            <a:r>
              <a:rPr lang="fr-FR" sz="1400" b="1" dirty="0"/>
              <a:t>progresse légèrement</a:t>
            </a:r>
            <a:r>
              <a:rPr lang="fr-FR" sz="1400" dirty="0"/>
              <a:t> </a:t>
            </a:r>
            <a:r>
              <a:rPr lang="fr-FR" sz="1400" i="1" dirty="0"/>
              <a:t>(+0,06 point)</a:t>
            </a:r>
            <a:r>
              <a:rPr lang="fr-FR" sz="14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En l’absence de match, elle </a:t>
            </a:r>
            <a:r>
              <a:rPr lang="fr-FR" sz="1400" b="1" dirty="0"/>
              <a:t>diminue marginalement</a:t>
            </a:r>
            <a:r>
              <a:rPr lang="fr-FR" sz="1400" dirty="0"/>
              <a:t> </a:t>
            </a:r>
            <a:r>
              <a:rPr lang="fr-FR" sz="1400" i="1" dirty="0"/>
              <a:t>(–0,02 point)</a:t>
            </a:r>
            <a:r>
              <a:rPr lang="fr-FR" sz="1400" dirty="0"/>
              <a:t>.</a:t>
            </a:r>
          </a:p>
          <a:p>
            <a:pPr>
              <a:buNone/>
            </a:pPr>
            <a:r>
              <a:rPr lang="fr-FR" sz="1400" b="1" dirty="0"/>
              <a:t>Globalement</a:t>
            </a:r>
            <a:endParaRPr lang="fr-FR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Les écarts d’auto-évaluation entre participants ayant obtenu un match et ceux n’en ayant pas obtenu sont </a:t>
            </a:r>
            <a:r>
              <a:rPr lang="fr-FR" sz="1400" b="1" dirty="0"/>
              <a:t>faibles et non significatifs</a:t>
            </a:r>
            <a:r>
              <a:rPr lang="fr-FR" sz="1400" dirty="0"/>
              <a:t>.</a:t>
            </a:r>
          </a:p>
          <a:p>
            <a:pPr>
              <a:buNone/>
            </a:pPr>
            <a:r>
              <a:rPr lang="fr-FR" sz="1400" b="1" dirty="0"/>
              <a:t>➜ À retenir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La manière dont les participants s’auto-évaluent </a:t>
            </a:r>
            <a:r>
              <a:rPr lang="fr-FR" sz="1400" b="1" dirty="0"/>
              <a:t>n’a pas d’impact notable</a:t>
            </a:r>
            <a:r>
              <a:rPr lang="fr-FR" sz="1400" dirty="0"/>
              <a:t> sur la probabilité d’obtenir un match.</a:t>
            </a:r>
          </a:p>
        </p:txBody>
      </p:sp>
    </p:spTree>
    <p:extLst>
      <p:ext uri="{BB962C8B-B14F-4D97-AF65-F5344CB8AC3E}">
        <p14:creationId xmlns:p14="http://schemas.microsoft.com/office/powerpoint/2010/main" val="30391377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CBEFE-5045-023E-CDC6-EF4047812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82887F9-7513-332E-35BC-6609FC6A36ED}"/>
              </a:ext>
            </a:extLst>
          </p:cNvPr>
          <p:cNvSpPr/>
          <p:nvPr/>
        </p:nvSpPr>
        <p:spPr>
          <a:xfrm>
            <a:off x="0" y="0"/>
            <a:ext cx="1707931" cy="6858000"/>
          </a:xfrm>
          <a:prstGeom prst="rect">
            <a:avLst/>
          </a:prstGeom>
          <a:solidFill>
            <a:srgbClr val="F3D6D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5E18F4C1-D575-2AA9-4537-048422106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8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3DE0570-0B35-35E9-26E4-E16930486C9A}"/>
              </a:ext>
            </a:extLst>
          </p:cNvPr>
          <p:cNvSpPr txBox="1"/>
          <p:nvPr/>
        </p:nvSpPr>
        <p:spPr>
          <a:xfrm>
            <a:off x="1707931" y="47560"/>
            <a:ext cx="111937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Axe d'analyse n°3: Est ce que les speed-datings à thèmes conduisent à plus de matchs entre les participants?</a:t>
            </a:r>
            <a:endParaRPr lang="fr-FR" dirty="0"/>
          </a:p>
          <a:p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1379E58-5DDB-4960-3ECC-B3E4F4FD6FE9}"/>
              </a:ext>
            </a:extLst>
          </p:cNvPr>
          <p:cNvSpPr txBox="1"/>
          <p:nvPr/>
        </p:nvSpPr>
        <p:spPr>
          <a:xfrm>
            <a:off x="2080115" y="4395787"/>
            <a:ext cx="891859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/>
              <a:t>Impact des speed-datings à thèmes sur les matchs:</a:t>
            </a:r>
          </a:p>
          <a:p>
            <a:endParaRPr lang="fr-FR" sz="1400" dirty="0"/>
          </a:p>
          <a:p>
            <a:r>
              <a:rPr lang="fr-FR" sz="1400" dirty="0"/>
              <a:t>L’analyse des données montre que </a:t>
            </a:r>
            <a:r>
              <a:rPr lang="fr-FR" sz="1400" b="1" dirty="0"/>
              <a:t>les rencontres avec un thème commun</a:t>
            </a:r>
            <a:r>
              <a:rPr lang="fr-FR" sz="1400" dirty="0"/>
              <a:t> (ex : participants arrivant avec un livre ou un magazine) </a:t>
            </a:r>
            <a:r>
              <a:rPr lang="fr-FR" sz="1400" b="1" dirty="0"/>
              <a:t>ne génèrent pas un taux de matchs plus élevé</a:t>
            </a:r>
            <a:r>
              <a:rPr lang="fr-FR" sz="1400" dirty="0"/>
              <a:t> que les sessions classiques.</a:t>
            </a:r>
          </a:p>
          <a:p>
            <a:endParaRPr lang="fr-FR" sz="1400" dirty="0"/>
          </a:p>
          <a:p>
            <a:r>
              <a:rPr lang="fr-FR" sz="1400" b="1" dirty="0"/>
              <a:t>→ À retenir</a:t>
            </a:r>
            <a:r>
              <a:rPr lang="fr-FR" sz="1400" dirty="0"/>
              <a:t> </a:t>
            </a:r>
            <a:r>
              <a:rPr lang="fr-FR" sz="1400" b="1" dirty="0"/>
              <a:t>Un intérêt commun</a:t>
            </a:r>
            <a:r>
              <a:rPr lang="fr-FR" sz="1400" dirty="0"/>
              <a:t> (ex : lecture) ne semble pas </a:t>
            </a:r>
            <a:r>
              <a:rPr lang="fr-FR" sz="1400" b="1" dirty="0"/>
              <a:t>augmenter significativement</a:t>
            </a:r>
            <a:r>
              <a:rPr lang="fr-FR" sz="1400" dirty="0"/>
              <a:t> les chances de match entre les participants.</a:t>
            </a:r>
          </a:p>
          <a:p>
            <a:endParaRPr lang="fr-FR" sz="1400" dirty="0"/>
          </a:p>
          <a:p>
            <a:r>
              <a:rPr lang="fr-FR" sz="1400" b="1" dirty="0"/>
              <a:t>Note méthodologique</a:t>
            </a:r>
            <a:r>
              <a:rPr lang="fr-FR" sz="1400" dirty="0"/>
              <a:t> Ces résultats sont à considérer </a:t>
            </a:r>
            <a:r>
              <a:rPr lang="fr-FR" sz="1400" b="1" dirty="0"/>
              <a:t>sous réserve d’un échantillon réduit</a:t>
            </a:r>
            <a:r>
              <a:rPr lang="fr-FR" sz="1400" dirty="0"/>
              <a:t>. Une analyse sur un plus grand volume de données serait nécessaire pour confirmer cette tendance</a:t>
            </a:r>
          </a:p>
        </p:txBody>
      </p:sp>
      <p:pic>
        <p:nvPicPr>
          <p:cNvPr id="11" name="Image 10" descr="Une image contenant texte, capture d’écran, cercle, diagramme&#10;&#10;Le contenu généré par l’IA peut être incorrect.">
            <a:extLst>
              <a:ext uri="{FF2B5EF4-FFF2-40B4-BE49-F238E27FC236}">
                <a16:creationId xmlns:a16="http://schemas.microsoft.com/office/drawing/2014/main" id="{A362BF90-FDD3-E35C-6FBB-53FBCCFB60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7931" y="530351"/>
            <a:ext cx="5076825" cy="4257675"/>
          </a:xfrm>
          <a:prstGeom prst="rect">
            <a:avLst/>
          </a:prstGeom>
        </p:spPr>
      </p:pic>
      <p:pic>
        <p:nvPicPr>
          <p:cNvPr id="13" name="Image 12" descr="Une image contenant texte, capture d’écran, cercle, diagramme&#10;&#10;Le contenu généré par l’IA peut être incorrect.">
            <a:extLst>
              <a:ext uri="{FF2B5EF4-FFF2-40B4-BE49-F238E27FC236}">
                <a16:creationId xmlns:a16="http://schemas.microsoft.com/office/drawing/2014/main" id="{2427A6EF-7D40-E654-0564-BAD6FB339C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4" y="525616"/>
            <a:ext cx="3714750" cy="425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01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87D89-F093-835B-538F-A35876B71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 descr="Une image contenant cercle, diagramme,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E14A8DEE-F401-BF93-A489-95253455EB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8761" y="602471"/>
            <a:ext cx="8800185" cy="62850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09117B0-66CF-5A19-4DA8-4C9EF183E518}"/>
              </a:ext>
            </a:extLst>
          </p:cNvPr>
          <p:cNvSpPr/>
          <p:nvPr/>
        </p:nvSpPr>
        <p:spPr>
          <a:xfrm>
            <a:off x="0" y="0"/>
            <a:ext cx="1707931" cy="6858000"/>
          </a:xfrm>
          <a:prstGeom prst="rect">
            <a:avLst/>
          </a:prstGeom>
          <a:solidFill>
            <a:srgbClr val="F3D6D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7C2D8E65-7C23-D806-662C-7676A0C5C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9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3987E20-4FFE-4B95-568D-74D340BEAA97}"/>
              </a:ext>
            </a:extLst>
          </p:cNvPr>
          <p:cNvSpPr txBox="1"/>
          <p:nvPr/>
        </p:nvSpPr>
        <p:spPr>
          <a:xfrm>
            <a:off x="365760" y="210312"/>
            <a:ext cx="116494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Axe d'analyse n°4: Est ce que l'objectif principal incitant les participants à participer au speed-dating a une incidence sur le taux de match?</a:t>
            </a:r>
            <a:endParaRPr lang="fr-FR" dirty="0"/>
          </a:p>
          <a:p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A4A12BD-DA03-64CA-7809-0D67DE5F44BA}"/>
              </a:ext>
            </a:extLst>
          </p:cNvPr>
          <p:cNvSpPr txBox="1"/>
          <p:nvPr/>
        </p:nvSpPr>
        <p:spPr>
          <a:xfrm>
            <a:off x="301752" y="1975281"/>
            <a:ext cx="248351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Les taux de matchs sont relativement semblables d'un objectif à l'autre, seul l'objectif "autre" conduit à un taux en dessous de 15%</a:t>
            </a:r>
          </a:p>
          <a:p>
            <a:br>
              <a:rPr lang="fr-FR" sz="1400" dirty="0"/>
            </a:br>
            <a:endParaRPr lang="fr-FR" sz="1400" dirty="0"/>
          </a:p>
          <a:p>
            <a:r>
              <a:rPr lang="fr-FR" sz="1400" b="1" dirty="0"/>
              <a:t>→ À retenir</a:t>
            </a:r>
            <a:endParaRPr lang="fr-FR" sz="1400" dirty="0"/>
          </a:p>
          <a:p>
            <a:br>
              <a:rPr lang="fr-FR" sz="1400" dirty="0"/>
            </a:br>
            <a:endParaRPr lang="fr-FR" sz="1400" dirty="0"/>
          </a:p>
          <a:p>
            <a:r>
              <a:rPr lang="fr-FR" sz="1400" dirty="0"/>
              <a:t>L'objectif avec lequel les participants assistent à un speed dating n'a pas d'impact significatif sur le fait d'obtenir un match ou non</a:t>
            </a:r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314124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951F4-DC5E-9208-15BC-DAFBD609E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3772AF3A-4DA3-E7A6-AE88-860F2C0900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5231" y="304635"/>
            <a:ext cx="5614092" cy="339986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B5F32FA-A1D3-4793-146A-F36170201CF6}"/>
              </a:ext>
            </a:extLst>
          </p:cNvPr>
          <p:cNvSpPr/>
          <p:nvPr/>
        </p:nvSpPr>
        <p:spPr>
          <a:xfrm>
            <a:off x="0" y="0"/>
            <a:ext cx="1707931" cy="6858000"/>
          </a:xfrm>
          <a:prstGeom prst="rect">
            <a:avLst/>
          </a:prstGeom>
          <a:solidFill>
            <a:srgbClr val="F3D6D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DF30E595-8E9B-0A18-B441-86C9E9C96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10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294248F-52C3-715F-7FFE-D7B5F4C2C048}"/>
              </a:ext>
            </a:extLst>
          </p:cNvPr>
          <p:cNvSpPr txBox="1"/>
          <p:nvPr/>
        </p:nvSpPr>
        <p:spPr>
          <a:xfrm>
            <a:off x="1783080" y="0"/>
            <a:ext cx="101406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Axe d'analyse n°5: Est ce que le fait d'avoir un match a une incidence sur le fait d'avoir un rendez-vous?</a:t>
            </a:r>
            <a:endParaRPr lang="fr-FR" dirty="0"/>
          </a:p>
          <a:p>
            <a:endParaRPr lang="fr-FR" dirty="0"/>
          </a:p>
        </p:txBody>
      </p:sp>
      <p:pic>
        <p:nvPicPr>
          <p:cNvPr id="8" name="Image 7" descr="Une image contenant texte, capture d’écran, diagramme, cercle&#10;&#10;Le contenu généré par l’IA peut être incorrect.">
            <a:extLst>
              <a:ext uri="{FF2B5EF4-FFF2-40B4-BE49-F238E27FC236}">
                <a16:creationId xmlns:a16="http://schemas.microsoft.com/office/drawing/2014/main" id="{D44D1E98-E545-E482-0C7E-7A65C89669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6650" y="3779665"/>
            <a:ext cx="4033933" cy="312713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578DB7B8-BCF8-0D8A-D3D8-24325158A5EE}"/>
              </a:ext>
            </a:extLst>
          </p:cNvPr>
          <p:cNvSpPr txBox="1"/>
          <p:nvPr/>
        </p:nvSpPr>
        <p:spPr>
          <a:xfrm>
            <a:off x="0" y="489959"/>
            <a:ext cx="766572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16,5% des participants (soit 8,25 % des rencontres) </a:t>
            </a:r>
            <a:r>
              <a:rPr lang="fr-FR" sz="1200" dirty="0"/>
              <a:t>ont obtenu un match.</a:t>
            </a:r>
          </a:p>
          <a:p>
            <a:endParaRPr lang="fr-FR" sz="1200" dirty="0"/>
          </a:p>
          <a:p>
            <a:r>
              <a:rPr lang="fr-FR" sz="1200" dirty="0"/>
              <a:t>Parmi eux, 51,1% ont eu un premier rendez-vous.</a:t>
            </a:r>
          </a:p>
          <a:p>
            <a:r>
              <a:rPr lang="fr-FR" sz="1200" dirty="0"/>
              <a:t>Parmi ceux sans match, 34,8% ont tout de même eu un rendez-vous.</a:t>
            </a:r>
          </a:p>
          <a:p>
            <a:br>
              <a:rPr lang="fr-FR" sz="1200" dirty="0"/>
            </a:br>
            <a:r>
              <a:rPr lang="fr-FR" sz="1200" b="1" dirty="0"/>
              <a:t>→ Constat</a:t>
            </a:r>
          </a:p>
          <a:p>
            <a:r>
              <a:rPr lang="fr-FR" sz="1200" dirty="0"/>
              <a:t>Bien qu’un match doive théoriquement favoriser les rendez-vous, l’écart observé (51,1 % vs 34,8 %) reste moins marqué qu’attendu.</a:t>
            </a:r>
          </a:p>
          <a:p>
            <a:endParaRPr lang="fr-FR" sz="1200" b="1" dirty="0"/>
          </a:p>
          <a:p>
            <a:r>
              <a:rPr lang="fr-FR" sz="1200" b="1" dirty="0"/>
              <a:t>→ Questionnement</a:t>
            </a:r>
          </a:p>
          <a:p>
            <a:r>
              <a:rPr lang="fr-FR" sz="1200" dirty="0"/>
              <a:t>Incohérence possible : Les participants sans match ne devraient pas pouvoir se rencontrer ultérieurement.</a:t>
            </a:r>
          </a:p>
          <a:p>
            <a:r>
              <a:rPr lang="fr-FR" sz="1200" dirty="0"/>
              <a:t>Hypothèse alternative : Possibilité de "matchs a posteriori" non documentés.</a:t>
            </a:r>
          </a:p>
          <a:p>
            <a:endParaRPr lang="fr-FR" sz="1200" dirty="0"/>
          </a:p>
          <a:p>
            <a:r>
              <a:rPr lang="fr-FR" sz="1200" b="1" dirty="0"/>
              <a:t>→ À retenir</a:t>
            </a:r>
          </a:p>
          <a:p>
            <a:r>
              <a:rPr lang="fr-FR" sz="1200" dirty="0"/>
              <a:t>L’impact d’un match sur l’obtention d’un rendez-vous est moins net que prévu, soulignant un doute sur la qualité ou la cohérence des données.</a:t>
            </a:r>
          </a:p>
          <a:p>
            <a:br>
              <a:rPr lang="fr-FR" sz="1400" dirty="0"/>
            </a:br>
            <a:endParaRPr lang="fr-FR" sz="1400" dirty="0"/>
          </a:p>
          <a:p>
            <a:endParaRPr lang="fr-FR" sz="1400" dirty="0"/>
          </a:p>
        </p:txBody>
      </p:sp>
      <p:pic>
        <p:nvPicPr>
          <p:cNvPr id="14" name="Image 13" descr="Une image contenant texte, capture d’écran, diagramme, cercle&#10;&#10;Le contenu généré par l’IA peut être incorrect.">
            <a:extLst>
              <a:ext uri="{FF2B5EF4-FFF2-40B4-BE49-F238E27FC236}">
                <a16:creationId xmlns:a16="http://schemas.microsoft.com/office/drawing/2014/main" id="{F90084D6-5F86-CCC5-406E-393E779D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0169" y="3535523"/>
            <a:ext cx="4853285" cy="3281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247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76578-B740-A51F-BA54-F7B693E51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A2A9C2-5B36-F1BA-D24F-B0A19FAE6544}"/>
              </a:ext>
            </a:extLst>
          </p:cNvPr>
          <p:cNvSpPr/>
          <p:nvPr/>
        </p:nvSpPr>
        <p:spPr>
          <a:xfrm>
            <a:off x="0" y="0"/>
            <a:ext cx="1707931" cy="6858000"/>
          </a:xfrm>
          <a:prstGeom prst="rect">
            <a:avLst/>
          </a:prstGeom>
          <a:solidFill>
            <a:srgbClr val="F3D6D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BCF7E091-CE0E-A746-B28F-3D40F453A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11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DD7D0D6-3798-72DC-AFA3-565395857358}"/>
              </a:ext>
            </a:extLst>
          </p:cNvPr>
          <p:cNvSpPr txBox="1"/>
          <p:nvPr/>
        </p:nvSpPr>
        <p:spPr>
          <a:xfrm>
            <a:off x="592836" y="165834"/>
            <a:ext cx="11006328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/>
              <a:t>Facteurs influençant l’obtention d’un premier rendez-vous</a:t>
            </a:r>
          </a:p>
          <a:p>
            <a:endParaRPr lang="fr-FR" sz="1400" dirty="0"/>
          </a:p>
          <a:p>
            <a:r>
              <a:rPr lang="fr-FR" sz="1400" b="1" dirty="0"/>
              <a:t>→ Conclusion</a:t>
            </a:r>
            <a:r>
              <a:rPr lang="fr-FR" sz="1400" dirty="0"/>
              <a:t> Les axes analysés </a:t>
            </a:r>
            <a:r>
              <a:rPr lang="fr-FR" sz="1400" b="1" dirty="0"/>
              <a:t>ne permettent pas d’identifier</a:t>
            </a:r>
            <a:r>
              <a:rPr lang="fr-FR" sz="1400" dirty="0"/>
              <a:t> les facteurs influençant la décision d’un premier rendez-vous après un speed-dating.</a:t>
            </a:r>
          </a:p>
          <a:p>
            <a:br>
              <a:rPr lang="fr-FR" sz="1400" dirty="0"/>
            </a:br>
            <a:endParaRPr lang="fr-FR" sz="1400" dirty="0"/>
          </a:p>
          <a:p>
            <a:r>
              <a:rPr lang="fr-FR" sz="1400" b="1" dirty="0"/>
              <a:t>Limites de l’analyse et recommandations:</a:t>
            </a:r>
          </a:p>
          <a:p>
            <a:endParaRPr lang="fr-FR" sz="1400" dirty="0"/>
          </a:p>
          <a:p>
            <a:r>
              <a:rPr lang="fr-FR" sz="1400" b="1" dirty="0"/>
              <a:t>Objectif initial</a:t>
            </a:r>
            <a:r>
              <a:rPr lang="fr-FR" sz="1400" dirty="0"/>
              <a:t> Aider Tinder à identifier les </a:t>
            </a:r>
            <a:r>
              <a:rPr lang="fr-FR" sz="1400" b="1" dirty="0"/>
              <a:t>facteurs clés de succès</a:t>
            </a:r>
            <a:r>
              <a:rPr lang="fr-FR" sz="1400" dirty="0"/>
              <a:t> pour qu’un match sur leur application aboutisse à un premier rendez-vous, voire à une relation durable. L’objectif était de construire un </a:t>
            </a:r>
            <a:r>
              <a:rPr lang="fr-FR" sz="1400" b="1" dirty="0"/>
              <a:t>modèle prédictif</a:t>
            </a:r>
            <a:r>
              <a:rPr lang="fr-FR" sz="1400" dirty="0"/>
              <a:t> mettant en avant les profils les plus susceptibles de plaire aux utilisateurs.</a:t>
            </a:r>
          </a:p>
          <a:p>
            <a:endParaRPr lang="fr-FR" sz="1400" b="1" dirty="0"/>
          </a:p>
          <a:p>
            <a:r>
              <a:rPr lang="fr-FR" sz="1400" b="1" dirty="0"/>
              <a:t>Limites identifiées</a:t>
            </a:r>
          </a:p>
          <a:p>
            <a:endParaRPr lang="fr-FR" sz="1400" dirty="0"/>
          </a:p>
          <a:p>
            <a:r>
              <a:rPr lang="fr-FR" sz="1400" b="1" dirty="0"/>
              <a:t>Données insuffisantes</a:t>
            </a:r>
            <a:r>
              <a:rPr lang="fr-FR" sz="1400" dirty="0"/>
              <a:t> : </a:t>
            </a:r>
          </a:p>
          <a:p>
            <a:pPr lvl="1"/>
            <a:r>
              <a:rPr lang="fr-FR" sz="1400" b="1" dirty="0"/>
              <a:t>Volumétrie faible</a:t>
            </a:r>
            <a:r>
              <a:rPr lang="fr-FR" sz="1400" dirty="0"/>
              <a:t> (551 participants seulement).</a:t>
            </a:r>
          </a:p>
          <a:p>
            <a:pPr lvl="1"/>
            <a:r>
              <a:rPr lang="fr-FR" sz="1400" b="1" dirty="0"/>
              <a:t>Données obsolètes</a:t>
            </a:r>
            <a:r>
              <a:rPr lang="fr-FR" sz="1400" dirty="0"/>
              <a:t> : Non représentatives des dynamiques actuelles de l’application.</a:t>
            </a:r>
          </a:p>
          <a:p>
            <a:endParaRPr lang="fr-FR" sz="1400" b="1" dirty="0"/>
          </a:p>
          <a:p>
            <a:r>
              <a:rPr lang="fr-FR" sz="1400" b="1" dirty="0"/>
              <a:t>Contexte inadapté</a:t>
            </a:r>
            <a:r>
              <a:rPr lang="fr-FR" sz="1400" dirty="0"/>
              <a:t> : </a:t>
            </a:r>
          </a:p>
          <a:p>
            <a:pPr lvl="1"/>
            <a:r>
              <a:rPr lang="fr-FR" sz="1400" dirty="0"/>
              <a:t>Les speed-datings impliquent des </a:t>
            </a:r>
            <a:r>
              <a:rPr lang="fr-FR" sz="1400" b="1" dirty="0"/>
              <a:t>rencontres physiques</a:t>
            </a:r>
            <a:r>
              <a:rPr lang="fr-FR" sz="1400" dirty="0"/>
              <a:t>, ce qui introduit des critères inconscients (ex: chimie, langage non verbal) </a:t>
            </a:r>
            <a:r>
              <a:rPr lang="fr-FR" sz="1400" b="1" dirty="0"/>
              <a:t>non reproductibles</a:t>
            </a:r>
            <a:r>
              <a:rPr lang="fr-FR" sz="1400" dirty="0"/>
              <a:t> dans un environnement digital comme Tinder.</a:t>
            </a:r>
          </a:p>
          <a:p>
            <a:endParaRPr lang="fr-FR" sz="1400" b="1" dirty="0"/>
          </a:p>
          <a:p>
            <a:r>
              <a:rPr lang="fr-FR" sz="1400" b="1" dirty="0"/>
              <a:t>Incohérences dans les données</a:t>
            </a:r>
            <a:r>
              <a:rPr lang="fr-FR" sz="1400" dirty="0"/>
              <a:t> : </a:t>
            </a:r>
          </a:p>
          <a:p>
            <a:pPr lvl="1"/>
            <a:r>
              <a:rPr lang="fr-FR" sz="1400" dirty="0"/>
              <a:t>Certains participants ont eu un rendez-vous </a:t>
            </a:r>
            <a:r>
              <a:rPr lang="fr-FR" sz="1400" b="1" dirty="0"/>
              <a:t>sans match préalable</a:t>
            </a:r>
            <a:r>
              <a:rPr lang="fr-FR" sz="1400" dirty="0"/>
              <a:t>, ce qui remet en question la fiabilité des données.</a:t>
            </a:r>
          </a:p>
          <a:p>
            <a:endParaRPr lang="fr-FR" sz="1400" b="1" dirty="0"/>
          </a:p>
          <a:p>
            <a:r>
              <a:rPr lang="fr-FR" sz="1400" b="1" dirty="0"/>
              <a:t>→ Recommandations pour Tinder</a:t>
            </a:r>
            <a:endParaRPr lang="fr-FR" sz="1400" dirty="0"/>
          </a:p>
          <a:p>
            <a:r>
              <a:rPr lang="fr-FR" sz="1400" b="1" dirty="0"/>
              <a:t>Utiliser des données plus récentes</a:t>
            </a:r>
            <a:r>
              <a:rPr lang="fr-FR" sz="1400" dirty="0"/>
              <a:t> pour refléter les tendances actuelles.</a:t>
            </a:r>
          </a:p>
          <a:p>
            <a:r>
              <a:rPr lang="fr-FR" sz="1400" b="1" dirty="0"/>
              <a:t>Augmenter la volumétrie des participants</a:t>
            </a:r>
            <a:r>
              <a:rPr lang="fr-FR" sz="1400" dirty="0"/>
              <a:t> pour obtenir des résultats statistiquement significatifs.</a:t>
            </a:r>
          </a:p>
          <a:p>
            <a:r>
              <a:rPr lang="fr-FR" sz="1400" b="1" dirty="0"/>
              <a:t>Reproduire les conditions réelles d’utilisation de l’application</a:t>
            </a:r>
            <a:r>
              <a:rPr lang="fr-FR" sz="1400" dirty="0"/>
              <a:t> (ex: études basées sur des interactions digitales plutôt que des rencontres physiques).</a:t>
            </a:r>
          </a:p>
          <a:p>
            <a:r>
              <a:rPr lang="fr-FR" sz="1400" b="1" dirty="0"/>
              <a:t>Mener des enquêtes qualitatives</a:t>
            </a:r>
            <a:r>
              <a:rPr lang="fr-FR" sz="1400" dirty="0"/>
              <a:t> auprès des utilisateurs pour identifier : </a:t>
            </a:r>
          </a:p>
          <a:p>
            <a:pPr lvl="1"/>
            <a:r>
              <a:rPr lang="fr-FR" sz="1400" dirty="0"/>
              <a:t>Les critères recherchés chez un partenaire.</a:t>
            </a:r>
          </a:p>
          <a:p>
            <a:pPr lvl="1"/>
            <a:r>
              <a:rPr lang="fr-FR" sz="1400" dirty="0"/>
              <a:t>Les éléments rédhibitoires qui empêchent une rencontre après un match.</a:t>
            </a:r>
          </a:p>
        </p:txBody>
      </p:sp>
    </p:spTree>
    <p:extLst>
      <p:ext uri="{BB962C8B-B14F-4D97-AF65-F5344CB8AC3E}">
        <p14:creationId xmlns:p14="http://schemas.microsoft.com/office/powerpoint/2010/main" val="196128930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1161</Words>
  <Application>Microsoft Office PowerPoint</Application>
  <PresentationFormat>Grand écran</PresentationFormat>
  <Paragraphs>116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Thème Office</vt:lpstr>
      <vt:lpstr>Analyse exploratoire, descriptive et inférentielle de données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Laura LUCCHINI</dc:creator>
  <cp:lastModifiedBy>Laura LUCCHINI</cp:lastModifiedBy>
  <cp:revision>5</cp:revision>
  <dcterms:created xsi:type="dcterms:W3CDTF">2025-11-11T11:27:30Z</dcterms:created>
  <dcterms:modified xsi:type="dcterms:W3CDTF">2026-01-02T17:49:58Z</dcterms:modified>
</cp:coreProperties>
</file>