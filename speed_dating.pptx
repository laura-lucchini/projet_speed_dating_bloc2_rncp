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61" r:id="rId3"/>
    <p:sldId id="257" r:id="rId4"/>
    <p:sldId id="260" r:id="rId5"/>
    <p:sldId id="258" r:id="rId6"/>
    <p:sldId id="262" r:id="rId7"/>
    <p:sldId id="263" r:id="rId8"/>
    <p:sldId id="264" r:id="rId9"/>
    <p:sldId id="265" r:id="rId10"/>
    <p:sldId id="267" r:id="rId11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D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108" y="57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E93D47-2100-4520-A674-42720C878824}" type="datetimeFigureOut">
              <a:rPr lang="fr-FR" smtClean="0"/>
              <a:t>07/01/2026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299353-1A70-4213-94A9-C6537E13B48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37129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E2B62F-086F-1790-14D1-CD6F57AEFF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3276F59-9730-4A16-6C15-D1CA610BAD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DEADE52-BA17-66F6-C4DC-CE641F148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0D2F3-07B2-4556-8EEA-239F868A8816}" type="datetime1">
              <a:rPr lang="fr-FR" smtClean="0"/>
              <a:t>07/01/2026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D6B28B3-7E93-276C-C28C-DE06DA791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3484EA1-9A53-37FE-258C-8B447EB6E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D7C0E-B5E2-46F8-8369-32F2BC9FE56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858827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12672E9-46F4-7A63-10A7-DCE54B875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CFADE48-3829-E4F5-E66B-C396BDEBA6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CF1B28F-CD5E-22E1-3476-4DD8EACDB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ED75C-5995-486D-AEC2-3458EE0A8C85}" type="datetime1">
              <a:rPr lang="fr-FR" smtClean="0"/>
              <a:t>07/01/2026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CA7474C-D2D5-3ED8-61E0-BB337F504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C114CB1-15BA-5DDD-4718-F4C533ACA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D7C0E-B5E2-46F8-8369-32F2BC9FE56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333390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D5AA2F0-6A73-ABF0-2229-3400F9056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DAD919D-F459-3B78-25FA-5333F79410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0D87B6D-4F39-1838-2A46-775861DBD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812E0-011E-482D-9770-26F1A780EAD8}" type="datetime1">
              <a:rPr lang="fr-FR" smtClean="0"/>
              <a:t>07/01/2026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6B59432-326B-BE9F-1FD7-F5B5F37FA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1AE15A9-F523-17B3-1CA4-9C7A722F5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D7C0E-B5E2-46F8-8369-32F2BC9FE56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23887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0536C71-9738-E594-90D4-E9F9F9A22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EFF8608-9581-240A-945D-CAAB4E56BC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FB85B04-CB29-CBD3-C780-CD178C3D3C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2B108F0-99B1-801E-4DD8-4CBF02670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3FC8A-FDB1-4451-9329-43DBB912A256}" type="datetime1">
              <a:rPr lang="fr-FR" smtClean="0"/>
              <a:t>07/01/2026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5571773-CB12-002C-D054-BE8F324DD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5A0C5CC-09E9-E0B6-6650-501A0E805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D7C0E-B5E2-46F8-8369-32F2BC9FE56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05161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ECC0399-4A94-9729-82CE-4309B3D45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9EFF367-84AB-F850-94AD-5B1F33DBF4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F603297-4F60-28C8-2C3D-30ECC77C75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5673919-2B31-D0CD-B94C-BCDD1239FB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A62F451B-FB25-DD3C-4453-59D7769C8B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CC97AA41-2979-4752-474F-486E075C4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938DB-53C5-499F-9E77-C4A6BFB6D7B0}" type="datetime1">
              <a:rPr lang="fr-FR" smtClean="0"/>
              <a:t>07/01/2026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44444646-08FC-AE86-4F1C-58FF4E28B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BF1399DD-122F-D20B-90E0-E75BF22AA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D7C0E-B5E2-46F8-8369-32F2BC9FE56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748752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98F6190-4419-1C36-F7C0-DDD46184D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6FF3E433-46FF-2B77-4103-10D849976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4754B-8D12-4F7B-B7B2-BE9501C2BF0C}" type="datetime1">
              <a:rPr lang="fr-FR" smtClean="0"/>
              <a:t>07/01/2026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20F3C74-FFBF-8B91-526A-D9075B8A1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16FB987-5915-F832-77C5-F1067E28B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D7C0E-B5E2-46F8-8369-32F2BC9FE56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221650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0C743F8-26B6-3B81-5054-37E4ED6B9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D601FE-0B10-4357-8A94-ED43ECC61E73}" type="datetime1">
              <a:rPr lang="fr-FR" smtClean="0"/>
              <a:t>07/01/2026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EA691426-C0CA-FDCA-9A4F-068CF344C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C8B6588-2937-CEA0-93D7-01827351D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D7C0E-B5E2-46F8-8369-32F2BC9FE56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927241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FD1D813-4EB4-80D5-D564-C8D48B45F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B7FB737-4287-92B2-2648-A76F3F47B9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E87EFC2-3EC6-F6FF-18FE-2FC431498A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2FEE924-30CD-B96F-75C6-8CD8C5C5F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5B53D-237A-4F39-87AD-DBFD4AA32F74}" type="datetime1">
              <a:rPr lang="fr-FR" smtClean="0"/>
              <a:t>07/01/2026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00B6806-AAE0-E74A-E2AB-F6E5E35C8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9BF6025-BEE8-BF44-24C0-754356196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D7C0E-B5E2-46F8-8369-32F2BC9FE56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72918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E2D63B-D4DA-333E-9287-A3785143A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3C95F387-3E62-1B3A-0104-44C528D1CF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BFEF34B-FDB8-A79A-BA31-1677DFBF39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F523D29-FF30-9C0F-D86F-AA27B9860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A35C9-E3D3-49A9-95FC-FD5ECA9EB791}" type="datetime1">
              <a:rPr lang="fr-FR" smtClean="0"/>
              <a:t>07/01/2026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42DC8D0-87DC-EE38-04D7-4B018E5BD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380D052-9C34-13CB-3D41-F582BAC02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D7C0E-B5E2-46F8-8369-32F2BC9FE56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39256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FB9273-E8AD-31F0-15BC-25E9A79E8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9754C0C-E2B5-91EC-4487-3809B104D6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5AAE2FE-E580-E047-BB34-67D2CC0FC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20883-C1CF-45DB-8E21-27E9BFE30BA5}" type="datetime1">
              <a:rPr lang="fr-FR" smtClean="0"/>
              <a:t>07/01/2026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9E2B1F8-5846-0E0F-11F8-51CF35DCE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EFE63DF-D98F-F0EE-9C2E-AD013E8AB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D7C0E-B5E2-46F8-8369-32F2BC9FE56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689783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DF8F8CEF-71C8-4D4C-C723-E70C9C5692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CE3D606-EF79-75CB-EC20-854B4CD2EF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B6A92A1-88A7-B6F2-5F04-C993EDC88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79BF-A261-454E-886D-ACA8EFF7026B}" type="datetime1">
              <a:rPr lang="fr-FR" smtClean="0"/>
              <a:t>07/01/2026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436B4B6-4C4D-7A27-E806-0E20BBA17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7214CCB-B3F2-7AA0-F82C-0A5DA579D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D7C0E-B5E2-46F8-8369-32F2BC9FE56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450493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45423D30-0A35-4D62-DD9B-A8DB70E5F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B050BF8-FB35-A20F-E135-0C08CE99E6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2041974-634E-1CD1-9836-CA24D81A99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C75ECC-67CD-476B-B935-1BA4B425F864}" type="datetime1">
              <a:rPr lang="fr-FR" smtClean="0"/>
              <a:t>07/01/2026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904DD31-FF6A-90C3-37FF-75D841710A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5DA470C-D226-2B4F-1193-17F4AC1626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FD7C0E-B5E2-46F8-8369-32F2BC9FE56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98601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F115328-F924-A35B-49F0-FE609C0838A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fr-FR" b="1" dirty="0"/>
              <a:t>Analyse exploratoire, descriptive et inférentielle de données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20E22F6-8F19-FA47-F225-002EC2109A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79875"/>
            <a:ext cx="9144000" cy="1655762"/>
          </a:xfrm>
        </p:spPr>
        <p:txBody>
          <a:bodyPr/>
          <a:lstStyle/>
          <a:p>
            <a:r>
              <a:rPr lang="fr-FR" dirty="0"/>
              <a:t>Bloc 2 du diplôme d'état - RNCP35288 - Niveau 6 (équivalent BAC+4)</a:t>
            </a:r>
          </a:p>
        </p:txBody>
      </p:sp>
      <p:pic>
        <p:nvPicPr>
          <p:cNvPr id="5" name="Image 4" descr="Une image contenant logo, Graphique, Police, graphisme&#10;&#10;Le contenu généré par l’IA peut être incorrect.">
            <a:extLst>
              <a:ext uri="{FF2B5EF4-FFF2-40B4-BE49-F238E27FC236}">
                <a16:creationId xmlns:a16="http://schemas.microsoft.com/office/drawing/2014/main" id="{A3FC900D-ED36-0720-40DD-A88D6CCCD4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9022" y="42040"/>
            <a:ext cx="2214137" cy="1153357"/>
          </a:xfrm>
          <a:prstGeom prst="rect">
            <a:avLst/>
          </a:prstGeom>
        </p:spPr>
      </p:pic>
      <p:pic>
        <p:nvPicPr>
          <p:cNvPr id="9" name="Image 8" descr="Une image contenant Police, Graphique, logo, symbole&#10;&#10;Le contenu généré par l’IA peut être incorrect.">
            <a:extLst>
              <a:ext uri="{FF2B5EF4-FFF2-40B4-BE49-F238E27FC236}">
                <a16:creationId xmlns:a16="http://schemas.microsoft.com/office/drawing/2014/main" id="{20AE4B64-3113-4F98-C858-FC478D7B5E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8336"/>
            <a:ext cx="2228866" cy="847731"/>
          </a:xfrm>
          <a:prstGeom prst="rect">
            <a:avLst/>
          </a:prstGeom>
        </p:spPr>
      </p:pic>
      <p:sp>
        <p:nvSpPr>
          <p:cNvPr id="10" name="Sous-titre 2">
            <a:extLst>
              <a:ext uri="{FF2B5EF4-FFF2-40B4-BE49-F238E27FC236}">
                <a16:creationId xmlns:a16="http://schemas.microsoft.com/office/drawing/2014/main" id="{FA83D2CC-4624-1B29-144A-6AE224D37A4A}"/>
              </a:ext>
            </a:extLst>
          </p:cNvPr>
          <p:cNvSpPr txBox="1">
            <a:spLocks/>
          </p:cNvSpPr>
          <p:nvPr/>
        </p:nvSpPr>
        <p:spPr>
          <a:xfrm>
            <a:off x="604346" y="5984463"/>
            <a:ext cx="2732689" cy="6421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dirty="0"/>
              <a:t>Laura LUCCHINI</a:t>
            </a:r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99F30600-3CE9-588F-002D-5B855DDBF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D7C0E-B5E2-46F8-8369-32F2BC9FE565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344471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E1E17B-9F67-634B-F741-C6D681B9C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5B377ED-E658-32ED-5173-479F28D1AB85}"/>
              </a:ext>
            </a:extLst>
          </p:cNvPr>
          <p:cNvSpPr/>
          <p:nvPr/>
        </p:nvSpPr>
        <p:spPr>
          <a:xfrm>
            <a:off x="0" y="0"/>
            <a:ext cx="1707931" cy="6858000"/>
          </a:xfrm>
          <a:prstGeom prst="rect">
            <a:avLst/>
          </a:prstGeom>
          <a:solidFill>
            <a:srgbClr val="F3D6D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284FFD61-311D-40F9-5C7E-94083BAB1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D7C0E-B5E2-46F8-8369-32F2BC9FE565}" type="slidenum">
              <a:rPr lang="fr-FR" smtClean="0"/>
              <a:t>2</a:t>
            </a:fld>
            <a:endParaRPr lang="fr-FR"/>
          </a:p>
        </p:txBody>
      </p:sp>
      <p:pic>
        <p:nvPicPr>
          <p:cNvPr id="4" name="Image 3" descr="Une image contenant logo, Graphique, Police, graphisme&#10;&#10;Le contenu généré par l’IA peut être incorrect.">
            <a:extLst>
              <a:ext uri="{FF2B5EF4-FFF2-40B4-BE49-F238E27FC236}">
                <a16:creationId xmlns:a16="http://schemas.microsoft.com/office/drawing/2014/main" id="{122AF226-EB63-09E2-613B-465F9A6B24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0544" y="42040"/>
            <a:ext cx="2622616" cy="1366136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DDB3DA64-6030-0707-E767-A6C00DC896EF}"/>
              </a:ext>
            </a:extLst>
          </p:cNvPr>
          <p:cNvSpPr txBox="1"/>
          <p:nvPr/>
        </p:nvSpPr>
        <p:spPr>
          <a:xfrm>
            <a:off x="2427890" y="1655064"/>
            <a:ext cx="8153962" cy="3699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fr-FR" b="0" dirty="0">
                <a:effectLst/>
              </a:rPr>
              <a:t>Speed Dating Data </a:t>
            </a:r>
            <a:r>
              <a:rPr lang="fr-FR" b="0" dirty="0" err="1">
                <a:effectLst/>
              </a:rPr>
              <a:t>Analysis</a:t>
            </a:r>
            <a:endParaRPr lang="fr-FR" b="0" dirty="0">
              <a:effectLst/>
            </a:endParaRPr>
          </a:p>
          <a:p>
            <a:pPr>
              <a:lnSpc>
                <a:spcPts val="1425"/>
              </a:lnSpc>
              <a:buNone/>
            </a:pPr>
            <a:br>
              <a:rPr lang="fr-FR" b="0" dirty="0">
                <a:effectLst/>
              </a:rPr>
            </a:br>
            <a:endParaRPr lang="fr-FR" b="0" dirty="0">
              <a:effectLst/>
            </a:endParaRPr>
          </a:p>
          <a:p>
            <a:pPr>
              <a:lnSpc>
                <a:spcPts val="1425"/>
              </a:lnSpc>
              <a:buNone/>
            </a:pPr>
            <a:r>
              <a:rPr lang="fr-FR" b="1" dirty="0">
                <a:effectLst/>
              </a:rPr>
              <a:t>Clien</a:t>
            </a:r>
            <a:r>
              <a:rPr lang="fr-FR" b="1" dirty="0"/>
              <a:t>t</a:t>
            </a:r>
            <a:r>
              <a:rPr lang="fr-FR" b="0" dirty="0">
                <a:effectLst/>
              </a:rPr>
              <a:t> : Tinder  </a:t>
            </a:r>
          </a:p>
          <a:p>
            <a:pPr>
              <a:lnSpc>
                <a:spcPts val="1425"/>
              </a:lnSpc>
              <a:buNone/>
            </a:pPr>
            <a:r>
              <a:rPr lang="fr-FR" b="1" dirty="0">
                <a:effectLst/>
              </a:rPr>
              <a:t>Dates concernées</a:t>
            </a:r>
            <a:r>
              <a:rPr lang="fr-FR" b="0" dirty="0">
                <a:effectLst/>
              </a:rPr>
              <a:t> : 2002 - 2004  </a:t>
            </a:r>
          </a:p>
          <a:p>
            <a:pPr>
              <a:lnSpc>
                <a:spcPts val="1425"/>
              </a:lnSpc>
              <a:buNone/>
            </a:pPr>
            <a:r>
              <a:rPr lang="fr-FR" b="1" dirty="0">
                <a:effectLst/>
              </a:rPr>
              <a:t>Nombre d'évènements</a:t>
            </a:r>
            <a:r>
              <a:rPr lang="fr-FR" b="0" dirty="0">
                <a:effectLst/>
              </a:rPr>
              <a:t> : 21 vagues de rencontres aboutissant à 8378 rencontres  </a:t>
            </a:r>
          </a:p>
          <a:p>
            <a:pPr>
              <a:lnSpc>
                <a:spcPts val="1425"/>
              </a:lnSpc>
              <a:buNone/>
            </a:pPr>
            <a:r>
              <a:rPr lang="fr-FR" b="1" dirty="0">
                <a:effectLst/>
              </a:rPr>
              <a:t>Nombre de participants</a:t>
            </a:r>
            <a:r>
              <a:rPr lang="fr-FR" b="0" dirty="0">
                <a:effectLst/>
              </a:rPr>
              <a:t> : 551 participants  </a:t>
            </a:r>
          </a:p>
          <a:p>
            <a:pPr>
              <a:lnSpc>
                <a:spcPts val="1425"/>
              </a:lnSpc>
              <a:buNone/>
            </a:pPr>
            <a:br>
              <a:rPr lang="fr-FR" b="0" dirty="0">
                <a:effectLst/>
              </a:rPr>
            </a:br>
            <a:endParaRPr lang="fr-FR" b="0" dirty="0">
              <a:effectLst/>
            </a:endParaRPr>
          </a:p>
          <a:p>
            <a:pPr>
              <a:lnSpc>
                <a:spcPts val="1425"/>
              </a:lnSpc>
              <a:buNone/>
            </a:pPr>
            <a:r>
              <a:rPr lang="fr-FR" b="1" dirty="0">
                <a:effectLst/>
              </a:rPr>
              <a:t>Problématique</a:t>
            </a:r>
            <a:r>
              <a:rPr lang="fr-FR" b="0" dirty="0">
                <a:effectLst/>
              </a:rPr>
              <a:t> : Depuis le lancement de l'application de rencontres en 2012, Tinder fait face à une diminution du nombre de matchs et tentent de trouver un moyen de comprendre ce qui fait que les gens s'intéressent les uns aux autres. </a:t>
            </a:r>
          </a:p>
          <a:p>
            <a:pPr>
              <a:lnSpc>
                <a:spcPts val="1425"/>
              </a:lnSpc>
              <a:buNone/>
            </a:pPr>
            <a:br>
              <a:rPr lang="fr-FR" b="0" dirty="0">
                <a:effectLst/>
              </a:rPr>
            </a:br>
            <a:endParaRPr lang="fr-FR" b="0" dirty="0">
              <a:effectLst/>
            </a:endParaRPr>
          </a:p>
          <a:p>
            <a:pPr>
              <a:lnSpc>
                <a:spcPts val="1425"/>
              </a:lnSpc>
              <a:buNone/>
            </a:pPr>
            <a:r>
              <a:rPr lang="fr-FR" b="1" dirty="0">
                <a:effectLst/>
              </a:rPr>
              <a:t>Objectif</a:t>
            </a:r>
            <a:r>
              <a:rPr lang="fr-FR" b="0" dirty="0">
                <a:effectLst/>
              </a:rPr>
              <a:t> : A partir de l'analyse des données récoltées dans le cadre de speed-datings physiques et dans le but de concevoir un algorithme affiné correspondant à l'utilisateur, Identifier les facteurs qui influencent la décision d'un premier rendez-vous après le speed-dating </a:t>
            </a:r>
          </a:p>
          <a:p>
            <a:pPr>
              <a:lnSpc>
                <a:spcPts val="1425"/>
              </a:lnSpc>
              <a:buNone/>
            </a:pPr>
            <a:br>
              <a:rPr lang="fr-FR" b="0" dirty="0">
                <a:effectLst/>
              </a:rPr>
            </a:br>
            <a:endParaRPr lang="fr-FR" b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654008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7252730-16CE-4AF2-CAF2-27AA000AFF7A}"/>
              </a:ext>
            </a:extLst>
          </p:cNvPr>
          <p:cNvSpPr/>
          <p:nvPr/>
        </p:nvSpPr>
        <p:spPr>
          <a:xfrm>
            <a:off x="0" y="0"/>
            <a:ext cx="1707931" cy="6858000"/>
          </a:xfrm>
          <a:prstGeom prst="rect">
            <a:avLst/>
          </a:prstGeom>
          <a:solidFill>
            <a:srgbClr val="F3D6D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937E93C-BEBC-6A24-6804-38B4FA085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D7C0E-B5E2-46F8-8369-32F2BC9FE565}" type="slidenum">
              <a:rPr lang="fr-FR" smtClean="0"/>
              <a:t>3</a:t>
            </a:fld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B5B9285D-B843-132F-481B-FEF7E950F6D8}"/>
              </a:ext>
            </a:extLst>
          </p:cNvPr>
          <p:cNvSpPr txBox="1"/>
          <p:nvPr/>
        </p:nvSpPr>
        <p:spPr>
          <a:xfrm>
            <a:off x="1697736" y="76791"/>
            <a:ext cx="8796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Visualisations descriptives: par sexe, par âge et par emploi</a:t>
            </a:r>
            <a:endParaRPr lang="fr-FR" dirty="0"/>
          </a:p>
        </p:txBody>
      </p:sp>
      <p:pic>
        <p:nvPicPr>
          <p:cNvPr id="11" name="Image 10" descr="Une image contenant texte, diagramme, capture d’écran, ligne&#10;&#10;Le contenu généré par l’IA peut être incorrect.">
            <a:extLst>
              <a:ext uri="{FF2B5EF4-FFF2-40B4-BE49-F238E27FC236}">
                <a16:creationId xmlns:a16="http://schemas.microsoft.com/office/drawing/2014/main" id="{1331EAD7-02C7-0E07-1DEA-F94BE5C9E6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5826" y="3006349"/>
            <a:ext cx="4224528" cy="3350001"/>
          </a:xfrm>
          <a:prstGeom prst="rect">
            <a:avLst/>
          </a:prstGeom>
        </p:spPr>
      </p:pic>
      <p:pic>
        <p:nvPicPr>
          <p:cNvPr id="4" name="Image 3" descr="Une image contenant texte, capture d’écran, cercle, diagramme&#10;&#10;Le contenu généré par l’IA peut être incorrect.">
            <a:extLst>
              <a:ext uri="{FF2B5EF4-FFF2-40B4-BE49-F238E27FC236}">
                <a16:creationId xmlns:a16="http://schemas.microsoft.com/office/drawing/2014/main" id="{2A259F2F-5409-B187-8307-9C6F35AF70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6916" y="0"/>
            <a:ext cx="3036506" cy="3035555"/>
          </a:xfrm>
          <a:prstGeom prst="rect">
            <a:avLst/>
          </a:prstGeom>
        </p:spPr>
      </p:pic>
      <p:pic>
        <p:nvPicPr>
          <p:cNvPr id="7" name="Image 6" descr="Une image contenant texte, capture d’écran, nombre, diagramme&#10;&#10;Le contenu généré par l’IA peut être incorrect.">
            <a:extLst>
              <a:ext uri="{FF2B5EF4-FFF2-40B4-BE49-F238E27FC236}">
                <a16:creationId xmlns:a16="http://schemas.microsoft.com/office/drawing/2014/main" id="{AB30D73A-7783-BDD0-C59D-AC6969AC58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108841"/>
            <a:ext cx="7903546" cy="460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1757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564E04-EF09-37AC-7F93-3F56B1CEB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73BF131-EABB-3FD0-CF0D-E34C89198A6D}"/>
              </a:ext>
            </a:extLst>
          </p:cNvPr>
          <p:cNvSpPr/>
          <p:nvPr/>
        </p:nvSpPr>
        <p:spPr>
          <a:xfrm>
            <a:off x="0" y="0"/>
            <a:ext cx="1707931" cy="6858000"/>
          </a:xfrm>
          <a:prstGeom prst="rect">
            <a:avLst/>
          </a:prstGeom>
          <a:solidFill>
            <a:srgbClr val="F3D6D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1DDA9363-36C0-E6C6-6CF5-8FFC3BB17889}"/>
              </a:ext>
            </a:extLst>
          </p:cNvPr>
          <p:cNvGrpSpPr/>
          <p:nvPr/>
        </p:nvGrpSpPr>
        <p:grpSpPr>
          <a:xfrm>
            <a:off x="588326" y="1974028"/>
            <a:ext cx="10765474" cy="4883972"/>
            <a:chOff x="588326" y="2137676"/>
            <a:chExt cx="10143068" cy="4720324"/>
          </a:xfrm>
        </p:grpSpPr>
        <p:pic>
          <p:nvPicPr>
            <p:cNvPr id="7" name="Image 6" descr="Une image contenant texte, capture d’écran, diagramme, ligne&#10;&#10;Le contenu généré par l’IA peut être incorrect.">
              <a:extLst>
                <a:ext uri="{FF2B5EF4-FFF2-40B4-BE49-F238E27FC236}">
                  <a16:creationId xmlns:a16="http://schemas.microsoft.com/office/drawing/2014/main" id="{7EBC8ED3-4958-C3CC-2C5C-1FDC99847E7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36422" y="2137676"/>
              <a:ext cx="5194972" cy="4583799"/>
            </a:xfrm>
            <a:prstGeom prst="rect">
              <a:avLst/>
            </a:prstGeom>
          </p:spPr>
        </p:pic>
        <p:pic>
          <p:nvPicPr>
            <p:cNvPr id="30" name="Image 29" descr="Une image contenant texte, capture d’écran, diagramme, Tracé&#10;&#10;Le contenu généré par l’IA peut être incorrect.">
              <a:extLst>
                <a:ext uri="{FF2B5EF4-FFF2-40B4-BE49-F238E27FC236}">
                  <a16:creationId xmlns:a16="http://schemas.microsoft.com/office/drawing/2014/main" id="{B3A700A6-B168-FBA5-179F-A406B488AF9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88326" y="2137676"/>
              <a:ext cx="4802791" cy="4720324"/>
            </a:xfrm>
            <a:prstGeom prst="rect">
              <a:avLst/>
            </a:prstGeom>
          </p:spPr>
        </p:pic>
      </p:grp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9AB8562B-D34A-45CB-808A-A57823383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D7C0E-B5E2-46F8-8369-32F2BC9FE565}" type="slidenum">
              <a:rPr lang="fr-FR" smtClean="0"/>
              <a:t>4</a:t>
            </a:fld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CF0AAF65-5681-6ADA-05DE-4B6B2D4AAA9F}"/>
              </a:ext>
            </a:extLst>
          </p:cNvPr>
          <p:cNvSpPr txBox="1"/>
          <p:nvPr/>
        </p:nvSpPr>
        <p:spPr>
          <a:xfrm>
            <a:off x="1949669" y="136525"/>
            <a:ext cx="952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Les critères qui comptent changent-ils avec le temps ?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0513B4E3-0248-F194-5B93-CFFD19498B1D}"/>
              </a:ext>
            </a:extLst>
          </p:cNvPr>
          <p:cNvSpPr txBox="1"/>
          <p:nvPr/>
        </p:nvSpPr>
        <p:spPr>
          <a:xfrm>
            <a:off x="1949669" y="685944"/>
            <a:ext cx="873935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Chaque participant a noté l’importance</a:t>
            </a:r>
            <a:r>
              <a:rPr lang="fr-FR" dirty="0"/>
              <a:t> </a:t>
            </a:r>
            <a:r>
              <a:rPr lang="fr-FR" sz="1200" dirty="0"/>
              <a:t>de 6 critères chez un partenaire potentiel à 4 moments différents: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fr-FR" sz="1200" dirty="0"/>
              <a:t>Avant le speed-dating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fr-FR" sz="1200" dirty="0"/>
              <a:t>Pendant le speed-dating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fr-FR" sz="1200" dirty="0"/>
              <a:t>Au lendemain du speed-dating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fr-FR" sz="1200" dirty="0"/>
              <a:t>3 à 4 semaines après le speed-dating</a:t>
            </a:r>
          </a:p>
        </p:txBody>
      </p:sp>
      <p:pic>
        <p:nvPicPr>
          <p:cNvPr id="10" name="Image 9" descr="Une image contenant texte, Police, capture d’écran, blanc&#10;&#10;Le contenu généré par l’IA peut être incorrect.">
            <a:extLst>
              <a:ext uri="{FF2B5EF4-FFF2-40B4-BE49-F238E27FC236}">
                <a16:creationId xmlns:a16="http://schemas.microsoft.com/office/drawing/2014/main" id="{4A2F7265-193F-D4AC-5767-52AA8164F0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1967" y="1038497"/>
            <a:ext cx="1399629" cy="731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15665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0E44D9-CBBA-5C5B-206B-C51F4D52F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D94ED33-0B97-8D17-034C-2B1C78E70C8A}"/>
              </a:ext>
            </a:extLst>
          </p:cNvPr>
          <p:cNvSpPr/>
          <p:nvPr/>
        </p:nvSpPr>
        <p:spPr>
          <a:xfrm>
            <a:off x="0" y="0"/>
            <a:ext cx="1707931" cy="6858000"/>
          </a:xfrm>
          <a:prstGeom prst="rect">
            <a:avLst/>
          </a:prstGeom>
          <a:solidFill>
            <a:srgbClr val="F3D6D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4F5CC123-18EE-091A-97C4-AFD6E182E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D7C0E-B5E2-46F8-8369-32F2BC9FE565}" type="slidenum">
              <a:rPr lang="fr-FR" smtClean="0"/>
              <a:t>5</a:t>
            </a:fld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2119FBF-979E-5D12-C3E6-E7420CC8E755}"/>
              </a:ext>
            </a:extLst>
          </p:cNvPr>
          <p:cNvSpPr txBox="1"/>
          <p:nvPr/>
        </p:nvSpPr>
        <p:spPr>
          <a:xfrm>
            <a:off x="1707930" y="0"/>
            <a:ext cx="10036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Effet de l’auto-évaluation sur le succès des rencontres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CF3DCFE7-C65D-0C65-24CE-649A06D654FA}"/>
              </a:ext>
            </a:extLst>
          </p:cNvPr>
          <p:cNvSpPr txBox="1"/>
          <p:nvPr/>
        </p:nvSpPr>
        <p:spPr>
          <a:xfrm>
            <a:off x="2065282" y="817719"/>
            <a:ext cx="60381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Il a été demandé à chaque participant de s’auto-évaluer avant et après le speed-dating</a:t>
            </a:r>
          </a:p>
        </p:txBody>
      </p: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A416652E-A76B-9153-24A9-20E61EDFFDDB}"/>
              </a:ext>
            </a:extLst>
          </p:cNvPr>
          <p:cNvGrpSpPr/>
          <p:nvPr/>
        </p:nvGrpSpPr>
        <p:grpSpPr>
          <a:xfrm>
            <a:off x="107767" y="2420471"/>
            <a:ext cx="11887010" cy="3898059"/>
            <a:chOff x="398223" y="2065904"/>
            <a:chExt cx="10784352" cy="3284437"/>
          </a:xfrm>
        </p:grpSpPr>
        <p:pic>
          <p:nvPicPr>
            <p:cNvPr id="5" name="Image 4" descr="Une image contenant texte, capture d’écran, ligne, Tracé&#10;&#10;Le contenu généré par l’IA peut être incorrect.">
              <a:extLst>
                <a:ext uri="{FF2B5EF4-FFF2-40B4-BE49-F238E27FC236}">
                  <a16:creationId xmlns:a16="http://schemas.microsoft.com/office/drawing/2014/main" id="{FF1C3C7D-B05A-F40C-ABE3-69FE2404F03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98223" y="2065904"/>
              <a:ext cx="5277938" cy="3223166"/>
            </a:xfrm>
            <a:prstGeom prst="rect">
              <a:avLst/>
            </a:prstGeom>
          </p:spPr>
        </p:pic>
        <p:pic>
          <p:nvPicPr>
            <p:cNvPr id="11" name="Image 10" descr="Une image contenant texte, capture d’écran, ligne, Caractère coloré&#10;&#10;Le contenu généré par l’IA peut être incorrect.">
              <a:extLst>
                <a:ext uri="{FF2B5EF4-FFF2-40B4-BE49-F238E27FC236}">
                  <a16:creationId xmlns:a16="http://schemas.microsoft.com/office/drawing/2014/main" id="{9042A79F-F3F8-14D2-F762-89FB48F4A56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567247" y="2065904"/>
              <a:ext cx="5615328" cy="3284437"/>
            </a:xfrm>
            <a:prstGeom prst="rect">
              <a:avLst/>
            </a:prstGeom>
          </p:spPr>
        </p:pic>
      </p:grpSp>
      <p:pic>
        <p:nvPicPr>
          <p:cNvPr id="15" name="Image 14" descr="Une image contenant texte, Police, blanc, capture d’écran&#10;&#10;Le contenu généré par l’IA peut être incorrect.">
            <a:extLst>
              <a:ext uri="{FF2B5EF4-FFF2-40B4-BE49-F238E27FC236}">
                <a16:creationId xmlns:a16="http://schemas.microsoft.com/office/drawing/2014/main" id="{8727DDE9-9649-999A-7786-61E363CFD1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0393" y="1305442"/>
            <a:ext cx="1371214" cy="871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2087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E0FE9F-CF09-B9C8-4DDF-C562A02E3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2BB3775-1EDE-B4D9-92AC-169020A0DCAA}"/>
              </a:ext>
            </a:extLst>
          </p:cNvPr>
          <p:cNvSpPr/>
          <p:nvPr/>
        </p:nvSpPr>
        <p:spPr>
          <a:xfrm>
            <a:off x="0" y="0"/>
            <a:ext cx="1707931" cy="6858000"/>
          </a:xfrm>
          <a:prstGeom prst="rect">
            <a:avLst/>
          </a:prstGeom>
          <a:solidFill>
            <a:srgbClr val="F3D6D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6D7EB82F-2202-D905-7D05-A5C01861A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D7C0E-B5E2-46F8-8369-32F2BC9FE565}" type="slidenum">
              <a:rPr lang="fr-FR" smtClean="0"/>
              <a:t>6</a:t>
            </a:fld>
            <a:endParaRPr lang="fr-FR"/>
          </a:p>
        </p:txBody>
      </p:sp>
      <p:pic>
        <p:nvPicPr>
          <p:cNvPr id="5" name="Image 4" descr="Une image contenant texte, capture d’écran, carré, Rectangle&#10;&#10;Le contenu généré par l’IA peut être incorrect.">
            <a:extLst>
              <a:ext uri="{FF2B5EF4-FFF2-40B4-BE49-F238E27FC236}">
                <a16:creationId xmlns:a16="http://schemas.microsoft.com/office/drawing/2014/main" id="{219B8340-768F-665E-1664-78CC47BB2F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1724" y="1982727"/>
            <a:ext cx="4741401" cy="4248379"/>
          </a:xfrm>
          <a:prstGeom prst="rect">
            <a:avLst/>
          </a:prstGeom>
        </p:spPr>
      </p:pic>
      <p:pic>
        <p:nvPicPr>
          <p:cNvPr id="9" name="Image 8" descr="Une image contenant texte, capture d’écran, carré, Rectangle&#10;&#10;Le contenu généré par l’IA peut être incorrect.">
            <a:extLst>
              <a:ext uri="{FF2B5EF4-FFF2-40B4-BE49-F238E27FC236}">
                <a16:creationId xmlns:a16="http://schemas.microsoft.com/office/drawing/2014/main" id="{657CD3D2-0316-6ADB-2B51-B5EE72D4B1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5066" y="1982727"/>
            <a:ext cx="4741401" cy="4248379"/>
          </a:xfrm>
          <a:prstGeom prst="rect">
            <a:avLst/>
          </a:prstGeom>
        </p:spPr>
      </p:pic>
      <p:pic>
        <p:nvPicPr>
          <p:cNvPr id="6" name="Image 5" descr="Une image contenant texte, capture d’écran, Police, blanc&#10;&#10;Le contenu généré par l’IA peut être incorrect.">
            <a:extLst>
              <a:ext uri="{FF2B5EF4-FFF2-40B4-BE49-F238E27FC236}">
                <a16:creationId xmlns:a16="http://schemas.microsoft.com/office/drawing/2014/main" id="{C1C005B4-6294-2D3A-F05A-A31C6844FB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2633" y="394924"/>
            <a:ext cx="4296311" cy="1339282"/>
          </a:xfrm>
          <a:prstGeom prst="rect">
            <a:avLst/>
          </a:prstGeom>
        </p:spPr>
      </p:pic>
      <p:pic>
        <p:nvPicPr>
          <p:cNvPr id="14" name="Image 13" descr="Une image contenant texte, Police, capture d’écran, blanc&#10;&#10;Le contenu généré par l’IA peut être incorrect.">
            <a:extLst>
              <a:ext uri="{FF2B5EF4-FFF2-40B4-BE49-F238E27FC236}">
                <a16:creationId xmlns:a16="http://schemas.microsoft.com/office/drawing/2014/main" id="{5DDD5418-D0BC-03FD-30CD-0621856849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3152" y="394925"/>
            <a:ext cx="4299096" cy="1339282"/>
          </a:xfrm>
          <a:prstGeom prst="rect">
            <a:avLst/>
          </a:prstGeom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46117FEE-8724-51E6-864F-7F6BD7517A52}"/>
              </a:ext>
            </a:extLst>
          </p:cNvPr>
          <p:cNvSpPr txBox="1"/>
          <p:nvPr/>
        </p:nvSpPr>
        <p:spPr>
          <a:xfrm>
            <a:off x="1707930" y="0"/>
            <a:ext cx="10036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Corrélation entre auto-évaluation et matchs</a:t>
            </a:r>
          </a:p>
        </p:txBody>
      </p:sp>
    </p:spTree>
    <p:extLst>
      <p:ext uri="{BB962C8B-B14F-4D97-AF65-F5344CB8AC3E}">
        <p14:creationId xmlns:p14="http://schemas.microsoft.com/office/powerpoint/2010/main" val="30391377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CBEFE-5045-023E-CDC6-EF4047812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82887F9-7513-332E-35BC-6609FC6A36ED}"/>
              </a:ext>
            </a:extLst>
          </p:cNvPr>
          <p:cNvSpPr/>
          <p:nvPr/>
        </p:nvSpPr>
        <p:spPr>
          <a:xfrm>
            <a:off x="0" y="0"/>
            <a:ext cx="1707931" cy="6858000"/>
          </a:xfrm>
          <a:prstGeom prst="rect">
            <a:avLst/>
          </a:prstGeom>
          <a:solidFill>
            <a:srgbClr val="F3D6D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5E18F4C1-D575-2AA9-4537-048422106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D7C0E-B5E2-46F8-8369-32F2BC9FE565}" type="slidenum">
              <a:rPr lang="fr-FR" smtClean="0"/>
              <a:t>7</a:t>
            </a:fld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B3DE0570-0B35-35E9-26E4-E16930486C9A}"/>
              </a:ext>
            </a:extLst>
          </p:cNvPr>
          <p:cNvSpPr txBox="1"/>
          <p:nvPr/>
        </p:nvSpPr>
        <p:spPr>
          <a:xfrm>
            <a:off x="1820886" y="580063"/>
            <a:ext cx="111937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Effet des speed-datings à thème</a:t>
            </a:r>
          </a:p>
        </p:txBody>
      </p: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683048E8-92A3-0832-D098-98B5AF6A8E97}"/>
              </a:ext>
            </a:extLst>
          </p:cNvPr>
          <p:cNvGrpSpPr/>
          <p:nvPr/>
        </p:nvGrpSpPr>
        <p:grpSpPr>
          <a:xfrm>
            <a:off x="2343633" y="1666607"/>
            <a:ext cx="9451231" cy="3849738"/>
            <a:chOff x="1902569" y="741450"/>
            <a:chExt cx="9867900" cy="4257676"/>
          </a:xfrm>
        </p:grpSpPr>
        <p:pic>
          <p:nvPicPr>
            <p:cNvPr id="6" name="Image 5" descr="Une image contenant texte, capture d’écran, cercle, diagramme&#10;&#10;Le contenu généré par l’IA peut être incorrect.">
              <a:extLst>
                <a:ext uri="{FF2B5EF4-FFF2-40B4-BE49-F238E27FC236}">
                  <a16:creationId xmlns:a16="http://schemas.microsoft.com/office/drawing/2014/main" id="{8A9D5C53-A29A-E1B7-9156-F2BDA8452A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02569" y="741451"/>
              <a:ext cx="5076825" cy="4257675"/>
            </a:xfrm>
            <a:prstGeom prst="rect">
              <a:avLst/>
            </a:prstGeom>
          </p:spPr>
        </p:pic>
        <p:pic>
          <p:nvPicPr>
            <p:cNvPr id="12" name="Image 11" descr="Une image contenant texte, capture d’écran, cercle, Police&#10;&#10;Le contenu généré par l’IA peut être incorrect.">
              <a:extLst>
                <a:ext uri="{FF2B5EF4-FFF2-40B4-BE49-F238E27FC236}">
                  <a16:creationId xmlns:a16="http://schemas.microsoft.com/office/drawing/2014/main" id="{64E4CA8A-E6C8-9646-D897-F24AC7C34C3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79394" y="741450"/>
              <a:ext cx="4791075" cy="42576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09012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87D89-F093-835B-538F-A35876B71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 descr="Une image contenant cercle, texte, diagramm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8457C655-4FEA-F050-7909-718C496768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5263" y="618988"/>
            <a:ext cx="8753931" cy="625201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09117B0-66CF-5A19-4DA8-4C9EF183E518}"/>
              </a:ext>
            </a:extLst>
          </p:cNvPr>
          <p:cNvSpPr/>
          <p:nvPr/>
        </p:nvSpPr>
        <p:spPr>
          <a:xfrm>
            <a:off x="0" y="0"/>
            <a:ext cx="1707931" cy="6858000"/>
          </a:xfrm>
          <a:prstGeom prst="rect">
            <a:avLst/>
          </a:prstGeom>
          <a:solidFill>
            <a:srgbClr val="F3D6D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7C2D8E65-7C23-D806-662C-7676A0C5C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D7C0E-B5E2-46F8-8369-32F2BC9FE565}" type="slidenum">
              <a:rPr lang="fr-FR" smtClean="0"/>
              <a:t>8</a:t>
            </a:fld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E3987E20-4FFE-4B95-568D-74D340BEAA97}"/>
              </a:ext>
            </a:extLst>
          </p:cNvPr>
          <p:cNvSpPr txBox="1"/>
          <p:nvPr/>
        </p:nvSpPr>
        <p:spPr>
          <a:xfrm>
            <a:off x="1707930" y="210312"/>
            <a:ext cx="103072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L’intention de départ </a:t>
            </a:r>
            <a:r>
              <a:rPr lang="fr-FR" b="1" dirty="0" err="1"/>
              <a:t>fait-elle</a:t>
            </a:r>
            <a:r>
              <a:rPr lang="fr-FR" b="1" dirty="0"/>
              <a:t> la différence ?</a:t>
            </a:r>
          </a:p>
        </p:txBody>
      </p:sp>
    </p:spTree>
    <p:extLst>
      <p:ext uri="{BB962C8B-B14F-4D97-AF65-F5344CB8AC3E}">
        <p14:creationId xmlns:p14="http://schemas.microsoft.com/office/powerpoint/2010/main" val="3141240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951F4-DC5E-9208-15BC-DAFBD609E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 descr="Une image contenant texte, capture d’écran, diagramme, cercle&#10;&#10;Le contenu généré par l’IA peut être incorrect.">
            <a:extLst>
              <a:ext uri="{FF2B5EF4-FFF2-40B4-BE49-F238E27FC236}">
                <a16:creationId xmlns:a16="http://schemas.microsoft.com/office/drawing/2014/main" id="{8D1705BF-A249-6B2A-92A3-3346B01A92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0455" y="3598132"/>
            <a:ext cx="4072760" cy="3210800"/>
          </a:xfrm>
          <a:prstGeom prst="rect">
            <a:avLst/>
          </a:prstGeom>
        </p:spPr>
      </p:pic>
      <p:pic>
        <p:nvPicPr>
          <p:cNvPr id="6" name="Image 5" descr="Une image contenant texte, capture d’écran, diagramme, Police&#10;&#10;Le contenu généré par l’IA peut être incorrect.">
            <a:extLst>
              <a:ext uri="{FF2B5EF4-FFF2-40B4-BE49-F238E27FC236}">
                <a16:creationId xmlns:a16="http://schemas.microsoft.com/office/drawing/2014/main" id="{B12E0153-BFCE-8561-DC8A-4BD560C16A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0877" y="470998"/>
            <a:ext cx="5163743" cy="312713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B5F32FA-A1D3-4793-146A-F36170201CF6}"/>
              </a:ext>
            </a:extLst>
          </p:cNvPr>
          <p:cNvSpPr/>
          <p:nvPr/>
        </p:nvSpPr>
        <p:spPr>
          <a:xfrm>
            <a:off x="0" y="0"/>
            <a:ext cx="1707931" cy="6858000"/>
          </a:xfrm>
          <a:prstGeom prst="rect">
            <a:avLst/>
          </a:prstGeom>
          <a:solidFill>
            <a:srgbClr val="F3D6D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DF30E595-8E9B-0A18-B441-86C9E9C96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D7C0E-B5E2-46F8-8369-32F2BC9FE565}" type="slidenum">
              <a:rPr lang="fr-FR" smtClean="0"/>
              <a:t>9</a:t>
            </a:fld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C294248F-52C3-715F-7FFE-D7B5F4C2C048}"/>
              </a:ext>
            </a:extLst>
          </p:cNvPr>
          <p:cNvSpPr txBox="1"/>
          <p:nvPr/>
        </p:nvSpPr>
        <p:spPr>
          <a:xfrm>
            <a:off x="1783080" y="0"/>
            <a:ext cx="101406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Du match au rendez-vous : analyse des conversions</a:t>
            </a:r>
          </a:p>
          <a:p>
            <a:endParaRPr lang="fr-FR" dirty="0"/>
          </a:p>
        </p:txBody>
      </p:sp>
      <p:pic>
        <p:nvPicPr>
          <p:cNvPr id="13" name="Image 12" descr="Une image contenant texte, capture d’écran, diagramme, cercle&#10;&#10;Le contenu généré par l’IA peut être incorrect.">
            <a:extLst>
              <a:ext uri="{FF2B5EF4-FFF2-40B4-BE49-F238E27FC236}">
                <a16:creationId xmlns:a16="http://schemas.microsoft.com/office/drawing/2014/main" id="{6CA9983F-BD7B-F473-F3B9-3AB21AD4C7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9608" y="3603448"/>
            <a:ext cx="4502538" cy="3044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2473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810B8-7227-D91A-856C-1C61EDA47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3219AF-2EF4-135A-7B3A-7118471660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71448" y="1674155"/>
            <a:ext cx="9144000" cy="2387600"/>
          </a:xfrm>
        </p:spPr>
        <p:txBody>
          <a:bodyPr>
            <a:normAutofit/>
          </a:bodyPr>
          <a:lstStyle/>
          <a:p>
            <a:r>
              <a:rPr lang="fr-FR" b="1" dirty="0"/>
              <a:t>Merci pour votre attention</a:t>
            </a:r>
            <a:endParaRPr lang="fr-FR" dirty="0"/>
          </a:p>
        </p:txBody>
      </p:sp>
      <p:pic>
        <p:nvPicPr>
          <p:cNvPr id="5" name="Image 4" descr="Une image contenant logo, Graphique, Police, graphisme&#10;&#10;Le contenu généré par l’IA peut être incorrect.">
            <a:extLst>
              <a:ext uri="{FF2B5EF4-FFF2-40B4-BE49-F238E27FC236}">
                <a16:creationId xmlns:a16="http://schemas.microsoft.com/office/drawing/2014/main" id="{AA81B2F8-EBE4-332B-02A7-3CCA5E761F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9022" y="42040"/>
            <a:ext cx="2214137" cy="1153357"/>
          </a:xfrm>
          <a:prstGeom prst="rect">
            <a:avLst/>
          </a:prstGeom>
        </p:spPr>
      </p:pic>
      <p:pic>
        <p:nvPicPr>
          <p:cNvPr id="9" name="Image 8" descr="Une image contenant Police, Graphique, logo, symbole&#10;&#10;Le contenu généré par l’IA peut être incorrect.">
            <a:extLst>
              <a:ext uri="{FF2B5EF4-FFF2-40B4-BE49-F238E27FC236}">
                <a16:creationId xmlns:a16="http://schemas.microsoft.com/office/drawing/2014/main" id="{8AA25077-A440-41A4-28CC-B446557F08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8336"/>
            <a:ext cx="2228866" cy="847731"/>
          </a:xfrm>
          <a:prstGeom prst="rect">
            <a:avLst/>
          </a:prstGeom>
        </p:spPr>
      </p:pic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2A482529-319B-3743-5C02-D20FE8F62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D7C0E-B5E2-46F8-8369-32F2BC9FE565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858043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258</Words>
  <Application>Microsoft Office PowerPoint</Application>
  <PresentationFormat>Grand écran</PresentationFormat>
  <Paragraphs>38</Paragraphs>
  <Slides>10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Thème Office</vt:lpstr>
      <vt:lpstr>Analyse exploratoire, descriptive et inférentielle de données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Merci pour votre attention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Laura LUCCHINI</dc:creator>
  <cp:lastModifiedBy>Laura LUCCHINI</cp:lastModifiedBy>
  <cp:revision>18</cp:revision>
  <dcterms:created xsi:type="dcterms:W3CDTF">2025-11-11T11:27:30Z</dcterms:created>
  <dcterms:modified xsi:type="dcterms:W3CDTF">2026-01-07T16:12:10Z</dcterms:modified>
</cp:coreProperties>
</file>